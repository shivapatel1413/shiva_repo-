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361" r:id="rId3"/>
    <p:sldId id="309" r:id="rId4"/>
    <p:sldId id="362" r:id="rId5"/>
    <p:sldId id="31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77"/>
    <a:srgbClr val="E23D28"/>
    <a:srgbClr val="68543D"/>
    <a:srgbClr val="004054"/>
    <a:srgbClr val="FF0066"/>
    <a:srgbClr val="800000"/>
    <a:srgbClr val="003366"/>
    <a:srgbClr val="006600"/>
    <a:srgbClr val="6857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26" autoAdjust="0"/>
    <p:restoredTop sz="93761" autoAdjust="0"/>
  </p:normalViewPr>
  <p:slideViewPr>
    <p:cSldViewPr snapToGrid="0">
      <p:cViewPr varScale="1">
        <p:scale>
          <a:sx n="62" d="100"/>
          <a:sy n="62" d="100"/>
        </p:scale>
        <p:origin x="142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111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-111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111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-111" charset="-128"/>
              </a:defRPr>
            </a:lvl1pPr>
          </a:lstStyle>
          <a:p>
            <a:pPr>
              <a:defRPr/>
            </a:pPr>
            <a:fld id="{3DF6A084-5394-496A-82C2-83C5EFB654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0597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1" charset="0"/>
        <a:ea typeface="ＭＳ Ｐゴシック" pitchFamily="-111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1" charset="0"/>
        <a:ea typeface="ＭＳ Ｐゴシック" pitchFamily="-11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1" charset="0"/>
        <a:ea typeface="ＭＳ Ｐゴシック" pitchFamily="-11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1" charset="0"/>
        <a:ea typeface="ＭＳ Ｐゴシック" pitchFamily="-11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1" charset="0"/>
        <a:ea typeface="ＭＳ Ｐゴシック" pitchFamily="-11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Title-Backer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1" descr="CL_Logo_RGB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7729538" y="19050"/>
            <a:ext cx="1379537" cy="105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16075" y="4217988"/>
            <a:ext cx="7223125" cy="701675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16075" y="4906963"/>
            <a:ext cx="6400800" cy="457200"/>
          </a:xfrm>
        </p:spPr>
        <p:txBody>
          <a:bodyPr>
            <a:sp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1616075" y="6359525"/>
            <a:ext cx="2895600" cy="214313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sz="800">
                <a:solidFill>
                  <a:schemeClr val="tx2"/>
                </a:solidFill>
                <a:latin typeface="Arial" charset="0"/>
                <a:ea typeface="ＭＳ Ｐゴシック" pitchFamily="-111" charset="-128"/>
              </a:defRPr>
            </a:lvl1pPr>
          </a:lstStyle>
          <a:p>
            <a:pPr>
              <a:defRPr/>
            </a:pPr>
            <a:r>
              <a:rPr lang="en-US" dirty="0"/>
              <a:t>©2010 CoreLogic, Inc. Private &amp; Confidential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3463" y="1262063"/>
            <a:ext cx="3906837" cy="49101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700" y="1262063"/>
            <a:ext cx="3908425" cy="49101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7225" y="777875"/>
            <a:ext cx="1993900" cy="53943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5525" y="777875"/>
            <a:ext cx="5829300" cy="53943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main-backer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3" descr="CL_Horiz_Logo_RGB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7513638" y="41275"/>
            <a:ext cx="1571625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25525" y="777875"/>
            <a:ext cx="7975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33463" y="1262063"/>
            <a:ext cx="7967662" cy="4910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1588" y="6627813"/>
            <a:ext cx="289560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>
              <a:defRPr/>
            </a:pPr>
            <a:r>
              <a:rPr lang="en-US" sz="800" b="1" dirty="0">
                <a:solidFill>
                  <a:srgbClr val="E23D28"/>
                </a:solidFill>
                <a:ea typeface="ＭＳ Ｐゴシック" pitchFamily="-111" charset="-128"/>
              </a:rPr>
              <a:t>©2010 CoreLogic, Inc. Private &amp; Confidential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2" r:id="rId2"/>
    <p:sldLayoutId id="2147483741" r:id="rId3"/>
    <p:sldLayoutId id="2147483740" r:id="rId4"/>
    <p:sldLayoutId id="2147483739" r:id="rId5"/>
    <p:sldLayoutId id="2147483738" r:id="rId6"/>
    <p:sldLayoutId id="2147483737" r:id="rId7"/>
    <p:sldLayoutId id="2147483736" r:id="rId8"/>
    <p:sldLayoutId id="2147483735" r:id="rId9"/>
    <p:sldLayoutId id="2147483734" r:id="rId10"/>
    <p:sldLayoutId id="2147483733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ＭＳ Ｐゴシック" pitchFamily="-111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itchFamily="-111" charset="0"/>
          <a:ea typeface="ＭＳ Ｐゴシック" pitchFamily="-111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itchFamily="-111" charset="0"/>
          <a:ea typeface="ＭＳ Ｐゴシック" pitchFamily="-111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itchFamily="-111" charset="0"/>
          <a:ea typeface="ＭＳ Ｐゴシック" pitchFamily="-111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itchFamily="-111" charset="0"/>
          <a:ea typeface="ＭＳ Ｐゴシック" pitchFamily="-111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itchFamily="-111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itchFamily="-111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itchFamily="-111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itchFamily="-111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2"/>
          </a:solidFill>
          <a:latin typeface="+mn-lt"/>
          <a:ea typeface="ＭＳ Ｐゴシック" pitchFamily="-111" charset="-128"/>
          <a:cs typeface="+mn-cs"/>
        </a:defRPr>
      </a:lvl1pPr>
      <a:lvl2pPr marL="230188" indent="-228600" algn="l" rtl="0" eaLnBrk="0" fontAlgn="base" hangingPunct="0">
        <a:spcBef>
          <a:spcPct val="75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2"/>
          </a:solidFill>
          <a:latin typeface="+mn-lt"/>
          <a:ea typeface="ＭＳ Ｐゴシック" pitchFamily="-111" charset="-128"/>
        </a:defRPr>
      </a:lvl2pPr>
      <a:lvl3pPr marL="428625" indent="-1968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w"/>
        <a:defRPr sz="2000">
          <a:solidFill>
            <a:schemeClr val="tx2"/>
          </a:solidFill>
          <a:latin typeface="+mn-lt"/>
          <a:ea typeface="ＭＳ Ｐゴシック" pitchFamily="-111" charset="-128"/>
        </a:defRPr>
      </a:lvl3pPr>
      <a:lvl4pPr marL="657225" indent="-227013" algn="l" rtl="0" eaLnBrk="0" fontAlgn="base" hangingPunct="0">
        <a:spcBef>
          <a:spcPct val="0"/>
        </a:spcBef>
        <a:spcAft>
          <a:spcPct val="0"/>
        </a:spcAft>
        <a:buClr>
          <a:schemeClr val="bg2"/>
        </a:buClr>
        <a:buFont typeface="Arial" charset="0"/>
        <a:buChar char="–"/>
        <a:defRPr>
          <a:solidFill>
            <a:schemeClr val="tx2"/>
          </a:solidFill>
          <a:latin typeface="+mn-lt"/>
          <a:ea typeface="ＭＳ Ｐゴシック" pitchFamily="-111" charset="-128"/>
        </a:defRPr>
      </a:lvl4pPr>
      <a:lvl5pPr marL="808038" indent="-149225" algn="l" rtl="0" eaLnBrk="0" fontAlgn="base" hangingPunct="0">
        <a:spcBef>
          <a:spcPct val="0"/>
        </a:spcBef>
        <a:spcAft>
          <a:spcPct val="0"/>
        </a:spcAft>
        <a:buClr>
          <a:schemeClr val="bg2"/>
        </a:buClr>
        <a:buChar char="•"/>
        <a:defRPr>
          <a:solidFill>
            <a:schemeClr val="tx2"/>
          </a:solidFill>
          <a:latin typeface="+mn-lt"/>
          <a:ea typeface="ＭＳ Ｐゴシック" pitchFamily="-111" charset="-128"/>
        </a:defRPr>
      </a:lvl5pPr>
      <a:lvl6pPr marL="1265238" indent="-149225" algn="l" rtl="0" eaLnBrk="1" fontAlgn="base" hangingPunct="1">
        <a:spcBef>
          <a:spcPct val="0"/>
        </a:spcBef>
        <a:spcAft>
          <a:spcPct val="0"/>
        </a:spcAft>
        <a:buClr>
          <a:schemeClr val="bg2"/>
        </a:buClr>
        <a:buChar char="•"/>
        <a:defRPr>
          <a:solidFill>
            <a:schemeClr val="tx2"/>
          </a:solidFill>
          <a:latin typeface="+mn-lt"/>
          <a:ea typeface="ＭＳ Ｐゴシック" pitchFamily="-111" charset="-128"/>
        </a:defRPr>
      </a:lvl6pPr>
      <a:lvl7pPr marL="1722438" indent="-149225" algn="l" rtl="0" eaLnBrk="1" fontAlgn="base" hangingPunct="1">
        <a:spcBef>
          <a:spcPct val="0"/>
        </a:spcBef>
        <a:spcAft>
          <a:spcPct val="0"/>
        </a:spcAft>
        <a:buClr>
          <a:schemeClr val="bg2"/>
        </a:buClr>
        <a:buChar char="•"/>
        <a:defRPr>
          <a:solidFill>
            <a:schemeClr val="tx2"/>
          </a:solidFill>
          <a:latin typeface="+mn-lt"/>
          <a:ea typeface="ＭＳ Ｐゴシック" pitchFamily="-111" charset="-128"/>
        </a:defRPr>
      </a:lvl7pPr>
      <a:lvl8pPr marL="2179638" indent="-149225" algn="l" rtl="0" eaLnBrk="1" fontAlgn="base" hangingPunct="1">
        <a:spcBef>
          <a:spcPct val="0"/>
        </a:spcBef>
        <a:spcAft>
          <a:spcPct val="0"/>
        </a:spcAft>
        <a:buClr>
          <a:schemeClr val="bg2"/>
        </a:buClr>
        <a:buChar char="•"/>
        <a:defRPr>
          <a:solidFill>
            <a:schemeClr val="tx2"/>
          </a:solidFill>
          <a:latin typeface="+mn-lt"/>
          <a:ea typeface="ＭＳ Ｐゴシック" pitchFamily="-111" charset="-128"/>
        </a:defRPr>
      </a:lvl8pPr>
      <a:lvl9pPr marL="2636838" indent="-149225" algn="l" rtl="0" eaLnBrk="1" fontAlgn="base" hangingPunct="1">
        <a:spcBef>
          <a:spcPct val="0"/>
        </a:spcBef>
        <a:spcAft>
          <a:spcPct val="0"/>
        </a:spcAft>
        <a:buClr>
          <a:schemeClr val="bg2"/>
        </a:buClr>
        <a:buChar char="•"/>
        <a:defRPr>
          <a:solidFill>
            <a:schemeClr val="tx2"/>
          </a:solidFill>
          <a:latin typeface="+mn-lt"/>
          <a:ea typeface="ＭＳ Ｐゴシック" pitchFamily="-111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707231" y="2306638"/>
            <a:ext cx="7729537" cy="193516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>
              <a:spcBef>
                <a:spcPct val="10000"/>
              </a:spcBef>
              <a:spcAft>
                <a:spcPct val="10000"/>
              </a:spcAft>
            </a:pPr>
            <a:r>
              <a:rPr lang="en-IN" sz="4000" b="1" dirty="0">
                <a:solidFill>
                  <a:schemeClr val="accent1"/>
                </a:solidFill>
                <a:latin typeface="Copperplate Gothic Bold" pitchFamily="34" charset="0"/>
              </a:rPr>
              <a:t>Residential Tax - Architecture</a:t>
            </a:r>
            <a:endParaRPr lang="en-US" sz="4000" b="1" dirty="0">
              <a:solidFill>
                <a:schemeClr val="accent1"/>
              </a:solidFill>
              <a:latin typeface="Copperplate Gothic Bold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5"/>
          <p:cNvSpPr>
            <a:spLocks noChangeArrowheads="1"/>
          </p:cNvSpPr>
          <p:nvPr/>
        </p:nvSpPr>
        <p:spPr bwMode="auto">
          <a:xfrm>
            <a:off x="1565275" y="73025"/>
            <a:ext cx="6142038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en-US" sz="3500" b="1" u="sng" dirty="0">
                <a:solidFill>
                  <a:schemeClr val="accent6">
                    <a:lumMod val="90000"/>
                    <a:lumOff val="10000"/>
                  </a:schemeClr>
                </a:solidFill>
                <a:latin typeface="Copperplate Gothic Bold" pitchFamily="34" charset="0"/>
              </a:rPr>
              <a:t>Architecture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27044" y="748483"/>
            <a:ext cx="8850589" cy="5604346"/>
            <a:chOff x="-1282569" y="962008"/>
            <a:chExt cx="12071220" cy="5153192"/>
          </a:xfrm>
        </p:grpSpPr>
        <p:sp>
          <p:nvSpPr>
            <p:cNvPr id="6" name="Rectangle 5"/>
            <p:cNvSpPr/>
            <p:nvPr/>
          </p:nvSpPr>
          <p:spPr>
            <a:xfrm>
              <a:off x="9393238" y="1525588"/>
              <a:ext cx="1395412" cy="26098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/>
              <a:endParaRPr lang="en-US" sz="1100">
                <a:solidFill>
                  <a:schemeClr val="l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4354832" y="1547812"/>
              <a:ext cx="1543049" cy="26003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/>
              <a:endParaRPr lang="en-US" sz="1100">
                <a:solidFill>
                  <a:schemeClr val="l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621280" y="1547812"/>
              <a:ext cx="1543049" cy="26003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/>
              <a:endParaRPr lang="en-US" sz="1100">
                <a:solidFill>
                  <a:schemeClr val="l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-1066113" y="1547812"/>
              <a:ext cx="1640035" cy="456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100"/>
            </a:p>
          </p:txBody>
        </p:sp>
        <p:sp>
          <p:nvSpPr>
            <p:cNvPr id="12" name="Flowchart: Process 11"/>
            <p:cNvSpPr/>
            <p:nvPr/>
          </p:nvSpPr>
          <p:spPr>
            <a:xfrm>
              <a:off x="-838413" y="1817029"/>
              <a:ext cx="1295400" cy="676275"/>
            </a:xfrm>
            <a:prstGeom prst="flowChartProcess">
              <a:avLst/>
            </a:prstGeom>
            <a:solidFill>
              <a:srgbClr val="005A7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baseline="0" dirty="0"/>
                <a:t>Oracle Apps</a:t>
              </a:r>
              <a:endParaRPr lang="en-US" sz="800" dirty="0"/>
            </a:p>
            <a:p>
              <a:pPr algn="ctr"/>
              <a:r>
                <a:rPr lang="en-US" sz="800" dirty="0"/>
                <a:t>(Talon,</a:t>
              </a:r>
              <a:r>
                <a:rPr lang="en-US" sz="800" baseline="0" dirty="0"/>
                <a:t> AMS, TPS, FARR...)</a:t>
              </a:r>
              <a:endParaRPr lang="en-US" sz="1100" baseline="0" dirty="0"/>
            </a:p>
          </p:txBody>
        </p:sp>
        <p:sp>
          <p:nvSpPr>
            <p:cNvPr id="13" name="Flowchart: Process 12"/>
            <p:cNvSpPr/>
            <p:nvPr/>
          </p:nvSpPr>
          <p:spPr>
            <a:xfrm>
              <a:off x="-877386" y="2659062"/>
              <a:ext cx="1295400" cy="638175"/>
            </a:xfrm>
            <a:prstGeom prst="flowChartProcess">
              <a:avLst/>
            </a:prstGeom>
            <a:solidFill>
              <a:srgbClr val="005A7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/>
                <a:t>Oracle</a:t>
              </a:r>
              <a:r>
                <a:rPr lang="en-US" sz="800" baseline="0" dirty="0"/>
                <a:t> Based Apps</a:t>
              </a:r>
              <a:endParaRPr lang="en-US" sz="800" dirty="0"/>
            </a:p>
            <a:p>
              <a:pPr algn="ctr"/>
              <a:r>
                <a:rPr lang="en-US" sz="800" dirty="0"/>
                <a:t>WINGSPAN</a:t>
              </a:r>
              <a:endParaRPr lang="en-US" sz="800" baseline="0" dirty="0"/>
            </a:p>
          </p:txBody>
        </p:sp>
        <p:sp>
          <p:nvSpPr>
            <p:cNvPr id="14" name="Flowchart: Process 13"/>
            <p:cNvSpPr/>
            <p:nvPr/>
          </p:nvSpPr>
          <p:spPr>
            <a:xfrm>
              <a:off x="-894455" y="4337342"/>
              <a:ext cx="1295400" cy="638175"/>
            </a:xfrm>
            <a:prstGeom prst="flowChartProcess">
              <a:avLst/>
            </a:prstGeom>
            <a:solidFill>
              <a:srgbClr val="005A7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/>
                <a:t>Cockroach DB</a:t>
              </a:r>
              <a:endParaRPr lang="en-US" sz="800" baseline="0" dirty="0"/>
            </a:p>
          </p:txBody>
        </p:sp>
        <p:sp>
          <p:nvSpPr>
            <p:cNvPr id="15" name="Flowchart: Process 14"/>
            <p:cNvSpPr/>
            <p:nvPr/>
          </p:nvSpPr>
          <p:spPr>
            <a:xfrm>
              <a:off x="-890377" y="3471647"/>
              <a:ext cx="1295400" cy="676275"/>
            </a:xfrm>
            <a:prstGeom prst="flowChartProcess">
              <a:avLst/>
            </a:prstGeom>
            <a:solidFill>
              <a:srgbClr val="005A7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/>
                <a:t>SQL Server, My </a:t>
              </a:r>
              <a:r>
                <a:rPr lang="en-US" sz="800" dirty="0" err="1"/>
                <a:t>Sql</a:t>
              </a:r>
              <a:r>
                <a:rPr lang="en-US" sz="800" dirty="0"/>
                <a:t> - Contact Center, NTS, </a:t>
              </a:r>
              <a:r>
                <a:rPr lang="en-US" sz="800" dirty="0" err="1"/>
                <a:t>TaxBI</a:t>
              </a:r>
              <a:endParaRPr lang="en-US" sz="800" dirty="0"/>
            </a:p>
          </p:txBody>
        </p:sp>
        <p:sp>
          <p:nvSpPr>
            <p:cNvPr id="20" name="Flowchart: Process 19"/>
            <p:cNvSpPr/>
            <p:nvPr/>
          </p:nvSpPr>
          <p:spPr>
            <a:xfrm>
              <a:off x="2765625" y="1818500"/>
              <a:ext cx="1295400" cy="676275"/>
            </a:xfrm>
            <a:prstGeom prst="flowChartProcess">
              <a:avLst/>
            </a:prstGeom>
            <a:solidFill>
              <a:srgbClr val="005A7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/>
                <a:t>Oracle DW</a:t>
              </a:r>
              <a:r>
                <a:rPr lang="en-US" sz="800" baseline="0" dirty="0"/>
                <a:t> - DWSTG_ZD</a:t>
              </a:r>
            </a:p>
          </p:txBody>
        </p:sp>
        <p:sp>
          <p:nvSpPr>
            <p:cNvPr id="25" name="Flowchart: Process 24"/>
            <p:cNvSpPr/>
            <p:nvPr/>
          </p:nvSpPr>
          <p:spPr>
            <a:xfrm>
              <a:off x="4480786" y="2620962"/>
              <a:ext cx="1295400" cy="676275"/>
            </a:xfrm>
            <a:prstGeom prst="flowChartProcess">
              <a:avLst/>
            </a:prstGeom>
            <a:solidFill>
              <a:srgbClr val="005A7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baseline="0" dirty="0"/>
                <a:t>GBQ DWDLYBT</a:t>
              </a:r>
            </a:p>
          </p:txBody>
        </p:sp>
        <p:cxnSp>
          <p:nvCxnSpPr>
            <p:cNvPr id="26" name="Elbow Connector 25"/>
            <p:cNvCxnSpPr>
              <a:cxnSpLocks/>
              <a:stCxn id="20" idx="3"/>
              <a:endCxn id="25" idx="0"/>
            </p:cNvCxnSpPr>
            <p:nvPr/>
          </p:nvCxnSpPr>
          <p:spPr>
            <a:xfrm>
              <a:off x="4061024" y="2156638"/>
              <a:ext cx="1067461" cy="464324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/>
            <p:cNvSpPr/>
            <p:nvPr/>
          </p:nvSpPr>
          <p:spPr>
            <a:xfrm>
              <a:off x="6071011" y="1535112"/>
              <a:ext cx="1450433" cy="26003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/>
              <a:endParaRPr lang="en-US" sz="1100">
                <a:solidFill>
                  <a:schemeClr val="l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695484" y="1525587"/>
              <a:ext cx="1496567" cy="26225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/>
              <a:endParaRPr lang="en-US" sz="1100">
                <a:solidFill>
                  <a:schemeClr val="l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Flowchart: Process 29"/>
            <p:cNvSpPr/>
            <p:nvPr/>
          </p:nvSpPr>
          <p:spPr>
            <a:xfrm>
              <a:off x="6195655" y="1817029"/>
              <a:ext cx="1253065" cy="676276"/>
            </a:xfrm>
            <a:prstGeom prst="flowChartProcess">
              <a:avLst/>
            </a:prstGeom>
            <a:solidFill>
              <a:srgbClr val="005A7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baseline="0" dirty="0"/>
                <a:t>GBQ DWSTGBT</a:t>
              </a:r>
            </a:p>
          </p:txBody>
        </p:sp>
        <p:sp>
          <p:nvSpPr>
            <p:cNvPr id="31" name="Flowchart: Process 30"/>
            <p:cNvSpPr/>
            <p:nvPr/>
          </p:nvSpPr>
          <p:spPr>
            <a:xfrm>
              <a:off x="7819310" y="1817029"/>
              <a:ext cx="1265340" cy="676275"/>
            </a:xfrm>
            <a:prstGeom prst="flowChartProcess">
              <a:avLst/>
            </a:prstGeom>
            <a:solidFill>
              <a:srgbClr val="005A7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/>
                <a:t>GBQ Regulatory Environment tables</a:t>
              </a:r>
              <a:endParaRPr lang="en-US" sz="800" baseline="0" dirty="0"/>
            </a:p>
          </p:txBody>
        </p:sp>
        <p:sp>
          <p:nvSpPr>
            <p:cNvPr id="32" name="Flowchart: Process 31"/>
            <p:cNvSpPr/>
            <p:nvPr/>
          </p:nvSpPr>
          <p:spPr>
            <a:xfrm>
              <a:off x="9452912" y="2528891"/>
              <a:ext cx="1264018" cy="732541"/>
            </a:xfrm>
            <a:prstGeom prst="flowChartProcess">
              <a:avLst/>
            </a:prstGeom>
            <a:solidFill>
              <a:srgbClr val="005A7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baseline="0" dirty="0"/>
                <a:t>GBQ</a:t>
              </a:r>
            </a:p>
            <a:p>
              <a:pPr algn="ctr"/>
              <a:r>
                <a:rPr lang="en-US" sz="800" dirty="0"/>
                <a:t>Views </a:t>
              </a:r>
              <a:r>
                <a:rPr lang="en-US" sz="800" baseline="0" dirty="0"/>
                <a:t>(TAXDW, Portfolio)</a:t>
              </a:r>
              <a:endParaRPr lang="en-US" sz="1100" baseline="0" dirty="0"/>
            </a:p>
          </p:txBody>
        </p:sp>
        <p:cxnSp>
          <p:nvCxnSpPr>
            <p:cNvPr id="33" name="Elbow Connector 32"/>
            <p:cNvCxnSpPr>
              <a:cxnSpLocks/>
              <a:stCxn id="25" idx="3"/>
              <a:endCxn id="30" idx="2"/>
            </p:cNvCxnSpPr>
            <p:nvPr/>
          </p:nvCxnSpPr>
          <p:spPr>
            <a:xfrm flipV="1">
              <a:off x="5776186" y="2493305"/>
              <a:ext cx="1046002" cy="465794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Frame 35"/>
            <p:cNvSpPr/>
            <p:nvPr/>
          </p:nvSpPr>
          <p:spPr>
            <a:xfrm>
              <a:off x="-1282569" y="962008"/>
              <a:ext cx="2197100" cy="533400"/>
            </a:xfrm>
            <a:prstGeom prst="frame">
              <a:avLst/>
            </a:prstGeom>
            <a:solidFill>
              <a:schemeClr val="bg2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b="1" dirty="0">
                  <a:solidFill>
                    <a:schemeClr val="tx1"/>
                  </a:solidFill>
                </a:rPr>
                <a:t>Source</a:t>
              </a:r>
            </a:p>
          </p:txBody>
        </p:sp>
        <p:sp>
          <p:nvSpPr>
            <p:cNvPr id="38" name="Frame 37"/>
            <p:cNvSpPr/>
            <p:nvPr/>
          </p:nvSpPr>
          <p:spPr>
            <a:xfrm>
              <a:off x="2600714" y="983557"/>
              <a:ext cx="1579959" cy="533400"/>
            </a:xfrm>
            <a:prstGeom prst="frame">
              <a:avLst/>
            </a:prstGeom>
            <a:solidFill>
              <a:schemeClr val="bg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/>
              <a:r>
                <a:rPr lang="en-US" b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Stage 1</a:t>
              </a:r>
            </a:p>
            <a:p>
              <a:pPr marL="0" indent="0" algn="ctr"/>
              <a:r>
                <a:rPr lang="en-US" b="1" dirty="0">
                  <a:solidFill>
                    <a:schemeClr val="tx1"/>
                  </a:solidFill>
                </a:rPr>
                <a:t>Oracle Stage</a:t>
              </a:r>
              <a:endParaRPr lang="en-US" b="1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Frame 38"/>
            <p:cNvSpPr/>
            <p:nvPr/>
          </p:nvSpPr>
          <p:spPr>
            <a:xfrm>
              <a:off x="4338371" y="976311"/>
              <a:ext cx="1559510" cy="533400"/>
            </a:xfrm>
            <a:prstGeom prst="frame">
              <a:avLst/>
            </a:prstGeom>
            <a:solidFill>
              <a:schemeClr val="bg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Stage 2 GBQ Daily ETL</a:t>
              </a:r>
            </a:p>
          </p:txBody>
        </p:sp>
        <p:sp>
          <p:nvSpPr>
            <p:cNvPr id="41" name="Frame 40"/>
            <p:cNvSpPr/>
            <p:nvPr/>
          </p:nvSpPr>
          <p:spPr>
            <a:xfrm>
              <a:off x="7666911" y="964870"/>
              <a:ext cx="1525140" cy="544840"/>
            </a:xfrm>
            <a:prstGeom prst="frame">
              <a:avLst/>
            </a:prstGeom>
            <a:solidFill>
              <a:schemeClr val="bg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EDW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Python Scripts</a:t>
              </a:r>
            </a:p>
          </p:txBody>
        </p:sp>
        <p:sp>
          <p:nvSpPr>
            <p:cNvPr id="42" name="Frame 41"/>
            <p:cNvSpPr/>
            <p:nvPr/>
          </p:nvSpPr>
          <p:spPr>
            <a:xfrm>
              <a:off x="9321768" y="964870"/>
              <a:ext cx="1466883" cy="533400"/>
            </a:xfrm>
            <a:prstGeom prst="frame">
              <a:avLst/>
            </a:prstGeom>
            <a:solidFill>
              <a:schemeClr val="bg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BI, </a:t>
              </a:r>
              <a:r>
                <a:rPr lang="en-US" b="1" dirty="0" err="1">
                  <a:solidFill>
                    <a:schemeClr val="tx1"/>
                  </a:solidFill>
                </a:rPr>
                <a:t>Adhoc</a:t>
              </a:r>
              <a:r>
                <a:rPr lang="en-US" b="1" dirty="0">
                  <a:solidFill>
                    <a:schemeClr val="tx1"/>
                  </a:solidFill>
                </a:rPr>
                <a:t> Queries</a:t>
              </a:r>
            </a:p>
          </p:txBody>
        </p:sp>
        <p:sp>
          <p:nvSpPr>
            <p:cNvPr id="43" name="Flowchart: Process 42"/>
            <p:cNvSpPr/>
            <p:nvPr/>
          </p:nvSpPr>
          <p:spPr>
            <a:xfrm>
              <a:off x="7818664" y="3293608"/>
              <a:ext cx="1290874" cy="742950"/>
            </a:xfrm>
            <a:prstGeom prst="flowChartProcess">
              <a:avLst/>
            </a:prstGeom>
            <a:solidFill>
              <a:srgbClr val="005A7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baseline="0" dirty="0"/>
                <a:t>GBQ</a:t>
              </a:r>
            </a:p>
            <a:p>
              <a:pPr algn="ctr"/>
              <a:r>
                <a:rPr lang="en-US" sz="800" baseline="0" dirty="0"/>
                <a:t>DR Region</a:t>
              </a:r>
            </a:p>
          </p:txBody>
        </p:sp>
      </p:grp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3CE71E52-EBCD-075E-563E-B7CC9C100323}"/>
              </a:ext>
            </a:extLst>
          </p:cNvPr>
          <p:cNvSpPr/>
          <p:nvPr/>
        </p:nvSpPr>
        <p:spPr>
          <a:xfrm>
            <a:off x="1550274" y="1649551"/>
            <a:ext cx="1395975" cy="360610"/>
          </a:xfrm>
          <a:prstGeom prst="flowChartProcess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00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GG Replication/Oracle triggers (60 tables)</a:t>
            </a:r>
            <a:endParaRPr lang="en-US" sz="800" b="1" baseline="0" dirty="0">
              <a:solidFill>
                <a:schemeClr val="accent6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6" name="Flowchart: Process 45">
            <a:extLst>
              <a:ext uri="{FF2B5EF4-FFF2-40B4-BE49-F238E27FC236}">
                <a16:creationId xmlns:a16="http://schemas.microsoft.com/office/drawing/2014/main" id="{7A4A8762-42CF-2E1E-60DA-6D7F60171AAF}"/>
              </a:ext>
            </a:extLst>
          </p:cNvPr>
          <p:cNvSpPr/>
          <p:nvPr/>
        </p:nvSpPr>
        <p:spPr>
          <a:xfrm>
            <a:off x="399277" y="5338154"/>
            <a:ext cx="949784" cy="694046"/>
          </a:xfrm>
          <a:prstGeom prst="flowChartProcess">
            <a:avLst/>
          </a:prstGeom>
          <a:solidFill>
            <a:srgbClr val="005A7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/>
              <a:t>EDE Files/Flat Files/</a:t>
            </a:r>
            <a:r>
              <a:rPr lang="en-US" sz="800" dirty="0" err="1"/>
              <a:t>Sharepoint</a:t>
            </a:r>
            <a:endParaRPr lang="en-US" sz="800" baseline="0" dirty="0"/>
          </a:p>
        </p:txBody>
      </p:sp>
      <p:cxnSp>
        <p:nvCxnSpPr>
          <p:cNvPr id="4103" name="Elbow Connector 22">
            <a:extLst>
              <a:ext uri="{FF2B5EF4-FFF2-40B4-BE49-F238E27FC236}">
                <a16:creationId xmlns:a16="http://schemas.microsoft.com/office/drawing/2014/main" id="{DD698883-BE7C-0CAA-DB07-7EB02055AF0F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1361392" y="3284211"/>
            <a:ext cx="2991330" cy="148213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4" name="Elbow Connector 22">
            <a:extLst>
              <a:ext uri="{FF2B5EF4-FFF2-40B4-BE49-F238E27FC236}">
                <a16:creationId xmlns:a16="http://schemas.microsoft.com/office/drawing/2014/main" id="{7EA0F7F0-E5E4-EA37-3BB9-8FB1F0678DD9}"/>
              </a:ext>
            </a:extLst>
          </p:cNvPr>
          <p:cNvCxnSpPr>
            <a:cxnSpLocks/>
            <a:stCxn id="46" idx="3"/>
            <a:endCxn id="25" idx="2"/>
          </p:cNvCxnSpPr>
          <p:nvPr/>
        </p:nvCxnSpPr>
        <p:spPr>
          <a:xfrm flipV="1">
            <a:off x="1349061" y="3288158"/>
            <a:ext cx="3478553" cy="2397019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3" name="Straight Arrow Connector 4112">
            <a:extLst>
              <a:ext uri="{FF2B5EF4-FFF2-40B4-BE49-F238E27FC236}">
                <a16:creationId xmlns:a16="http://schemas.microsoft.com/office/drawing/2014/main" id="{497C76A1-D0F0-1041-B909-0125B9346CF0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 flipV="1">
            <a:off x="1373907" y="2920417"/>
            <a:ext cx="2978815" cy="207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1" name="Elbow Connector 22">
            <a:extLst>
              <a:ext uri="{FF2B5EF4-FFF2-40B4-BE49-F238E27FC236}">
                <a16:creationId xmlns:a16="http://schemas.microsoft.com/office/drawing/2014/main" id="{9F94FDDF-68C2-EE33-C1F6-6FEFF22B67A2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1364382" y="3117407"/>
            <a:ext cx="2988340" cy="72817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2" name="Frame 4131">
            <a:extLst>
              <a:ext uri="{FF2B5EF4-FFF2-40B4-BE49-F238E27FC236}">
                <a16:creationId xmlns:a16="http://schemas.microsoft.com/office/drawing/2014/main" id="{43B8E9FA-BA3F-F06A-48FD-0319A004D0F9}"/>
              </a:ext>
            </a:extLst>
          </p:cNvPr>
          <p:cNvSpPr/>
          <p:nvPr/>
        </p:nvSpPr>
        <p:spPr>
          <a:xfrm>
            <a:off x="5505920" y="753288"/>
            <a:ext cx="1097278" cy="580098"/>
          </a:xfrm>
          <a:prstGeom prst="frame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tx1"/>
                </a:solidFill>
              </a:rPr>
              <a:t>Target State ETL</a:t>
            </a:r>
          </a:p>
        </p:txBody>
      </p:sp>
      <p:cxnSp>
        <p:nvCxnSpPr>
          <p:cNvPr id="4149" name="Straight Arrow Connector 4148">
            <a:extLst>
              <a:ext uri="{FF2B5EF4-FFF2-40B4-BE49-F238E27FC236}">
                <a16:creationId xmlns:a16="http://schemas.microsoft.com/office/drawing/2014/main" id="{49657B02-D7B4-0615-0AA5-89A74FF78E48}"/>
              </a:ext>
            </a:extLst>
          </p:cNvPr>
          <p:cNvCxnSpPr>
            <a:cxnSpLocks/>
          </p:cNvCxnSpPr>
          <p:nvPr/>
        </p:nvCxnSpPr>
        <p:spPr>
          <a:xfrm>
            <a:off x="7235120" y="2411164"/>
            <a:ext cx="0" cy="85912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9" name="Elbow Connector 32">
            <a:extLst>
              <a:ext uri="{FF2B5EF4-FFF2-40B4-BE49-F238E27FC236}">
                <a16:creationId xmlns:a16="http://schemas.microsoft.com/office/drawing/2014/main" id="{5F55FDCA-9682-8F9D-5795-E8A5C421762F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7720764" y="2002546"/>
            <a:ext cx="740897" cy="449997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5" name="Straight Arrow Connector 4164">
            <a:extLst>
              <a:ext uri="{FF2B5EF4-FFF2-40B4-BE49-F238E27FC236}">
                <a16:creationId xmlns:a16="http://schemas.microsoft.com/office/drawing/2014/main" id="{433BD36B-0236-D337-A208-BFF117329789}"/>
              </a:ext>
            </a:extLst>
          </p:cNvPr>
          <p:cNvCxnSpPr>
            <a:cxnSpLocks/>
            <a:stCxn id="12" idx="3"/>
            <a:endCxn id="20" idx="1"/>
          </p:cNvCxnSpPr>
          <p:nvPr/>
        </p:nvCxnSpPr>
        <p:spPr>
          <a:xfrm>
            <a:off x="1402482" y="2046101"/>
            <a:ext cx="1692688" cy="16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203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5"/>
          <p:cNvSpPr>
            <a:spLocks noChangeArrowheads="1"/>
          </p:cNvSpPr>
          <p:nvPr/>
        </p:nvSpPr>
        <p:spPr bwMode="auto">
          <a:xfrm>
            <a:off x="2600325" y="38100"/>
            <a:ext cx="3951288" cy="101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r>
              <a:rPr lang="en-US" sz="3500" b="1" u="sng" dirty="0">
                <a:solidFill>
                  <a:srgbClr val="FF3300"/>
                </a:solidFill>
                <a:latin typeface="Copperplate Gothic Bold" pitchFamily="34" charset="0"/>
              </a:rPr>
              <a:t>Production Batch Triggers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607608"/>
              </p:ext>
            </p:extLst>
          </p:nvPr>
        </p:nvGraphicFramePr>
        <p:xfrm>
          <a:off x="779928" y="1249082"/>
          <a:ext cx="8269943" cy="41187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1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44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81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6580">
                <a:tc>
                  <a:txBody>
                    <a:bodyPr/>
                    <a:lstStyle/>
                    <a:p>
                      <a:r>
                        <a:rPr lang="en-US" sz="1500" dirty="0"/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Start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End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497">
                <a:tc>
                  <a:txBody>
                    <a:bodyPr/>
                    <a:lstStyle/>
                    <a:p>
                      <a:r>
                        <a:rPr lang="en-US" sz="1300" dirty="0"/>
                        <a:t>EDW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12:00</a:t>
                      </a:r>
                      <a:r>
                        <a:rPr lang="en-US" sz="1300" baseline="0" dirty="0"/>
                        <a:t> AM CST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07:00</a:t>
                      </a:r>
                      <a:r>
                        <a:rPr lang="en-US" sz="1300" baseline="0" dirty="0"/>
                        <a:t> AM CST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Monday</a:t>
                      </a:r>
                      <a:r>
                        <a:rPr lang="en-US" sz="1300" baseline="0" dirty="0"/>
                        <a:t> to </a:t>
                      </a:r>
                      <a:r>
                        <a:rPr lang="en-US" sz="1300" dirty="0"/>
                        <a:t>Saturday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704">
                <a:tc>
                  <a:txBody>
                    <a:bodyPr/>
                    <a:lstStyle/>
                    <a:p>
                      <a:r>
                        <a:rPr lang="en-US" sz="1300" dirty="0"/>
                        <a:t>Source 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5:30 PM CST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8:30 AM CST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Tuesday</a:t>
                      </a:r>
                      <a:r>
                        <a:rPr lang="en-US" sz="1300" baseline="0" dirty="0"/>
                        <a:t> to Saturday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Monday run</a:t>
                      </a:r>
                      <a:r>
                        <a:rPr lang="en-US" sz="1300" baseline="0" dirty="0"/>
                        <a:t> completes at 5:45 AM CST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497">
                <a:tc>
                  <a:txBody>
                    <a:bodyPr/>
                    <a:lstStyle/>
                    <a:p>
                      <a:r>
                        <a:rPr lang="en-IN" sz="1300" dirty="0"/>
                        <a:t>R</a:t>
                      </a:r>
                      <a:r>
                        <a:rPr lang="en-US" sz="1300" dirty="0"/>
                        <a:t>3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R3 Research Timings are </a:t>
                      </a:r>
                      <a:r>
                        <a:rPr lang="de-DE" sz="1300" dirty="0"/>
                        <a:t>3am,6am,10am,2pm,6pm,9pm cst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Monday</a:t>
                      </a:r>
                      <a:r>
                        <a:rPr lang="en-US" sz="1300" baseline="0" dirty="0"/>
                        <a:t> to </a:t>
                      </a:r>
                      <a:r>
                        <a:rPr lang="en-US" sz="1300" dirty="0"/>
                        <a:t>Saturday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dirty="0"/>
                        <a:t>Refreshes 6 Times a Day from Oracle</a:t>
                      </a:r>
                      <a:endParaRPr lang="en-US" sz="1300" dirty="0"/>
                    </a:p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377">
                <a:tc>
                  <a:txBody>
                    <a:bodyPr/>
                    <a:lstStyle/>
                    <a:p>
                      <a:r>
                        <a:rPr lang="en-US" sz="1300" dirty="0"/>
                        <a:t>Cycle</a:t>
                      </a:r>
                      <a:r>
                        <a:rPr lang="en-US" sz="1300" baseline="0" dirty="0"/>
                        <a:t> Dashboard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11:15</a:t>
                      </a:r>
                      <a:r>
                        <a:rPr lang="en-US" sz="1300" baseline="0" dirty="0"/>
                        <a:t> PM CST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7:00</a:t>
                      </a:r>
                      <a:r>
                        <a:rPr lang="en-US" sz="1300" baseline="0" dirty="0"/>
                        <a:t> AM CST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Monday to  Saturday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497">
                <a:tc>
                  <a:txBody>
                    <a:bodyPr/>
                    <a:lstStyle/>
                    <a:p>
                      <a:r>
                        <a:rPr lang="en-US" sz="1300" dirty="0"/>
                        <a:t>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12:05</a:t>
                      </a:r>
                      <a:r>
                        <a:rPr lang="en-US" sz="1300" baseline="0" dirty="0"/>
                        <a:t> AM CST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2:30 AM CST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Monday to  Saturday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8497">
                <a:tc>
                  <a:txBody>
                    <a:bodyPr/>
                    <a:lstStyle/>
                    <a:p>
                      <a:r>
                        <a:rPr lang="en-US" sz="1300" dirty="0"/>
                        <a:t>Contact 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2:30 AM CST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3:30 AM CST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Monday to  Saturday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6B60B-3DDA-FCF5-2269-E21D06293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Source Systems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2473F83-F219-8756-5E25-265A6FE13A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9860762"/>
              </p:ext>
            </p:extLst>
          </p:nvPr>
        </p:nvGraphicFramePr>
        <p:xfrm>
          <a:off x="1033463" y="1262063"/>
          <a:ext cx="7975599" cy="4472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8533">
                  <a:extLst>
                    <a:ext uri="{9D8B030D-6E8A-4147-A177-3AD203B41FA5}">
                      <a16:colId xmlns:a16="http://schemas.microsoft.com/office/drawing/2014/main" val="1042112028"/>
                    </a:ext>
                  </a:extLst>
                </a:gridCol>
                <a:gridCol w="2658533">
                  <a:extLst>
                    <a:ext uri="{9D8B030D-6E8A-4147-A177-3AD203B41FA5}">
                      <a16:colId xmlns:a16="http://schemas.microsoft.com/office/drawing/2014/main" val="1702615852"/>
                    </a:ext>
                  </a:extLst>
                </a:gridCol>
                <a:gridCol w="2658533">
                  <a:extLst>
                    <a:ext uri="{9D8B030D-6E8A-4147-A177-3AD203B41FA5}">
                      <a16:colId xmlns:a16="http://schemas.microsoft.com/office/drawing/2014/main" val="1972455915"/>
                    </a:ext>
                  </a:extLst>
                </a:gridCol>
              </a:tblGrid>
              <a:tr h="406584">
                <a:tc>
                  <a:txBody>
                    <a:bodyPr/>
                    <a:lstStyle/>
                    <a:p>
                      <a:r>
                        <a:rPr lang="en-US" dirty="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Department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260370"/>
                  </a:ext>
                </a:extLst>
              </a:tr>
              <a:tr h="406584">
                <a:tc>
                  <a:txBody>
                    <a:bodyPr/>
                    <a:lstStyle/>
                    <a:p>
                      <a:r>
                        <a:rPr lang="en-US" dirty="0"/>
                        <a:t>Oracle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Residential Tax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224447"/>
                  </a:ext>
                </a:extLst>
              </a:tr>
              <a:tr h="406584">
                <a:tc>
                  <a:txBody>
                    <a:bodyPr/>
                    <a:lstStyle/>
                    <a:p>
                      <a:r>
                        <a:rPr lang="en-US" dirty="0"/>
                        <a:t>Oracle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Wingspan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Residential Tax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077114"/>
                  </a:ext>
                </a:extLst>
              </a:tr>
              <a:tr h="406584">
                <a:tc>
                  <a:txBody>
                    <a:bodyPr/>
                    <a:lstStyle/>
                    <a:p>
                      <a:r>
                        <a:rPr lang="en-US" dirty="0"/>
                        <a:t>Oracle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FARRedemption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Residential tax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278092"/>
                  </a:ext>
                </a:extLst>
              </a:tr>
              <a:tr h="406584">
                <a:tc>
                  <a:txBody>
                    <a:bodyPr/>
                    <a:lstStyle/>
                    <a:p>
                      <a:r>
                        <a:rPr lang="en-US" dirty="0"/>
                        <a:t>Oracle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Talon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Residential tax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405132"/>
                  </a:ext>
                </a:extLst>
              </a:tr>
              <a:tr h="406584">
                <a:tc>
                  <a:txBody>
                    <a:bodyPr/>
                    <a:lstStyle/>
                    <a:p>
                      <a:r>
                        <a:rPr lang="en-US" dirty="0"/>
                        <a:t>Oracle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R3Research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84126"/>
                  </a:ext>
                </a:extLst>
              </a:tr>
              <a:tr h="406584">
                <a:tc>
                  <a:txBody>
                    <a:bodyPr/>
                    <a:lstStyle/>
                    <a:p>
                      <a:r>
                        <a:rPr lang="en-US" dirty="0"/>
                        <a:t>SQL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Commercial Tax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416568"/>
                  </a:ext>
                </a:extLst>
              </a:tr>
              <a:tr h="406584">
                <a:tc>
                  <a:txBody>
                    <a:bodyPr/>
                    <a:lstStyle/>
                    <a:p>
                      <a:r>
                        <a:rPr lang="en-US" dirty="0"/>
                        <a:t>SQL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Centralized refunds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Residential Tax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774864"/>
                  </a:ext>
                </a:extLst>
              </a:tr>
              <a:tr h="406584">
                <a:tc>
                  <a:txBody>
                    <a:bodyPr/>
                    <a:lstStyle/>
                    <a:p>
                      <a:r>
                        <a:rPr lang="en-US" dirty="0"/>
                        <a:t>SQL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Call 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984845"/>
                  </a:ext>
                </a:extLst>
              </a:tr>
              <a:tr h="406584">
                <a:tc>
                  <a:txBody>
                    <a:bodyPr/>
                    <a:lstStyle/>
                    <a:p>
                      <a:r>
                        <a:rPr lang="en-US" dirty="0"/>
                        <a:t>SQL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DATAMART(repository)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390763"/>
                  </a:ext>
                </a:extLst>
              </a:tr>
              <a:tr h="406584">
                <a:tc>
                  <a:txBody>
                    <a:bodyPr/>
                    <a:lstStyle/>
                    <a:p>
                      <a:r>
                        <a:rPr lang="en-US" dirty="0"/>
                        <a:t>CC DB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CC DB	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Commercial Tax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420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4316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54941" y="2407024"/>
            <a:ext cx="47871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eLogic_PowerPoint_Template">
  <a:themeElements>
    <a:clrScheme name="Default Design 14">
      <a:dk1>
        <a:srgbClr val="000000"/>
      </a:dk1>
      <a:lt1>
        <a:srgbClr val="FFFFFF"/>
      </a:lt1>
      <a:dk2>
        <a:srgbClr val="685745"/>
      </a:dk2>
      <a:lt2>
        <a:srgbClr val="958377"/>
      </a:lt2>
      <a:accent1>
        <a:srgbClr val="E23D28"/>
      </a:accent1>
      <a:accent2>
        <a:srgbClr val="004054"/>
      </a:accent2>
      <a:accent3>
        <a:srgbClr val="FFFFFF"/>
      </a:accent3>
      <a:accent4>
        <a:srgbClr val="000000"/>
      </a:accent4>
      <a:accent5>
        <a:srgbClr val="EEAFAC"/>
      </a:accent5>
      <a:accent6>
        <a:srgbClr val="00394B"/>
      </a:accent6>
      <a:hlink>
        <a:srgbClr val="004D46"/>
      </a:hlink>
      <a:folHlink>
        <a:srgbClr val="77243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000000"/>
        </a:dk1>
        <a:lt1>
          <a:srgbClr val="FFFFFF"/>
        </a:lt1>
        <a:dk2>
          <a:srgbClr val="685745"/>
        </a:dk2>
        <a:lt2>
          <a:srgbClr val="808080"/>
        </a:lt2>
        <a:accent1>
          <a:srgbClr val="E23D28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EAFAC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4">
        <a:dk1>
          <a:srgbClr val="000000"/>
        </a:dk1>
        <a:lt1>
          <a:srgbClr val="FFFFFF"/>
        </a:lt1>
        <a:dk2>
          <a:srgbClr val="685745"/>
        </a:dk2>
        <a:lt2>
          <a:srgbClr val="958377"/>
        </a:lt2>
        <a:accent1>
          <a:srgbClr val="E23D28"/>
        </a:accent1>
        <a:accent2>
          <a:srgbClr val="004054"/>
        </a:accent2>
        <a:accent3>
          <a:srgbClr val="FFFFFF"/>
        </a:accent3>
        <a:accent4>
          <a:srgbClr val="000000"/>
        </a:accent4>
        <a:accent5>
          <a:srgbClr val="EEAFAC"/>
        </a:accent5>
        <a:accent6>
          <a:srgbClr val="00394B"/>
        </a:accent6>
        <a:hlink>
          <a:srgbClr val="004D46"/>
        </a:hlink>
        <a:folHlink>
          <a:srgbClr val="77243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CoreLogic_PowerPoint_Template</Template>
  <TotalTime>1761</TotalTime>
  <Words>249</Words>
  <Application>Microsoft Office PowerPoint</Application>
  <PresentationFormat>On-screen Show (4:3)</PresentationFormat>
  <Paragraphs>89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Copperplate Gothic Bold</vt:lpstr>
      <vt:lpstr>Wingdings</vt:lpstr>
      <vt:lpstr>CoreLogic_PowerPoint_Template</vt:lpstr>
      <vt:lpstr>PowerPoint Presentation</vt:lpstr>
      <vt:lpstr>PowerPoint Presentation</vt:lpstr>
      <vt:lpstr>PowerPoint Presentation</vt:lpstr>
      <vt:lpstr>Source Systems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 Title Goes Here</dc:title>
  <dc:creator>ksirish</dc:creator>
  <cp:lastModifiedBy>Patil, Shiva Kumar</cp:lastModifiedBy>
  <cp:revision>178</cp:revision>
  <dcterms:created xsi:type="dcterms:W3CDTF">2010-04-27T06:18:19Z</dcterms:created>
  <dcterms:modified xsi:type="dcterms:W3CDTF">2023-04-28T11:02:39Z</dcterms:modified>
</cp:coreProperties>
</file>