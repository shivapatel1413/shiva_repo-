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1" r:id="rId5"/>
    <p:sldId id="257" r:id="rId6"/>
    <p:sldId id="25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8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517AD-1A7D-D518-96A8-FD9007251E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217F14-8239-B222-7AFE-BB5C13044E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7EDA91-5D7E-0203-5FB2-0C90CEAF2B2F}"/>
              </a:ext>
            </a:extLst>
          </p:cNvPr>
          <p:cNvSpPr>
            <a:spLocks noGrp="1"/>
          </p:cNvSpPr>
          <p:nvPr>
            <p:ph type="dt" sz="half" idx="10"/>
          </p:nvPr>
        </p:nvSpPr>
        <p:spPr/>
        <p:txBody>
          <a:bodyPr/>
          <a:lstStyle/>
          <a:p>
            <a:fld id="{F9A41A13-9098-40ED-B8F4-9BF199447E5B}" type="datetimeFigureOut">
              <a:rPr lang="en-US" smtClean="0"/>
              <a:t>7/11/2025</a:t>
            </a:fld>
            <a:endParaRPr lang="en-US"/>
          </a:p>
        </p:txBody>
      </p:sp>
      <p:sp>
        <p:nvSpPr>
          <p:cNvPr id="5" name="Footer Placeholder 4">
            <a:extLst>
              <a:ext uri="{FF2B5EF4-FFF2-40B4-BE49-F238E27FC236}">
                <a16:creationId xmlns:a16="http://schemas.microsoft.com/office/drawing/2014/main" id="{982D5822-985A-C9CC-F9D9-B65697070A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AB3690-4864-0AAD-418B-78E391B37BA9}"/>
              </a:ext>
            </a:extLst>
          </p:cNvPr>
          <p:cNvSpPr>
            <a:spLocks noGrp="1"/>
          </p:cNvSpPr>
          <p:nvPr>
            <p:ph type="sldNum" sz="quarter" idx="12"/>
          </p:nvPr>
        </p:nvSpPr>
        <p:spPr/>
        <p:txBody>
          <a:bodyPr/>
          <a:lstStyle/>
          <a:p>
            <a:fld id="{C98EC7F2-AA75-42D1-BD30-712F1BE961A8}" type="slidenum">
              <a:rPr lang="en-US" smtClean="0"/>
              <a:t>‹#›</a:t>
            </a:fld>
            <a:endParaRPr lang="en-US"/>
          </a:p>
        </p:txBody>
      </p:sp>
    </p:spTree>
    <p:extLst>
      <p:ext uri="{BB962C8B-B14F-4D97-AF65-F5344CB8AC3E}">
        <p14:creationId xmlns:p14="http://schemas.microsoft.com/office/powerpoint/2010/main" val="1002980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6C5E5-667E-E9BF-2DD7-B4C84F7D5E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A78D70-A6E7-1B70-2650-73D0D44A44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EDCE8B-557B-D527-71D5-4A7E501C8515}"/>
              </a:ext>
            </a:extLst>
          </p:cNvPr>
          <p:cNvSpPr>
            <a:spLocks noGrp="1"/>
          </p:cNvSpPr>
          <p:nvPr>
            <p:ph type="dt" sz="half" idx="10"/>
          </p:nvPr>
        </p:nvSpPr>
        <p:spPr/>
        <p:txBody>
          <a:bodyPr/>
          <a:lstStyle/>
          <a:p>
            <a:fld id="{F9A41A13-9098-40ED-B8F4-9BF199447E5B}" type="datetimeFigureOut">
              <a:rPr lang="en-US" smtClean="0"/>
              <a:t>7/11/2025</a:t>
            </a:fld>
            <a:endParaRPr lang="en-US"/>
          </a:p>
        </p:txBody>
      </p:sp>
      <p:sp>
        <p:nvSpPr>
          <p:cNvPr id="5" name="Footer Placeholder 4">
            <a:extLst>
              <a:ext uri="{FF2B5EF4-FFF2-40B4-BE49-F238E27FC236}">
                <a16:creationId xmlns:a16="http://schemas.microsoft.com/office/drawing/2014/main" id="{BA9100A0-8B9D-59EE-89D9-77960D3409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86EAD1-F6C9-6F0E-CD9C-E706CB3D640C}"/>
              </a:ext>
            </a:extLst>
          </p:cNvPr>
          <p:cNvSpPr>
            <a:spLocks noGrp="1"/>
          </p:cNvSpPr>
          <p:nvPr>
            <p:ph type="sldNum" sz="quarter" idx="12"/>
          </p:nvPr>
        </p:nvSpPr>
        <p:spPr/>
        <p:txBody>
          <a:bodyPr/>
          <a:lstStyle/>
          <a:p>
            <a:fld id="{C98EC7F2-AA75-42D1-BD30-712F1BE961A8}" type="slidenum">
              <a:rPr lang="en-US" smtClean="0"/>
              <a:t>‹#›</a:t>
            </a:fld>
            <a:endParaRPr lang="en-US"/>
          </a:p>
        </p:txBody>
      </p:sp>
    </p:spTree>
    <p:extLst>
      <p:ext uri="{BB962C8B-B14F-4D97-AF65-F5344CB8AC3E}">
        <p14:creationId xmlns:p14="http://schemas.microsoft.com/office/powerpoint/2010/main" val="3488527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1CA98-1AA3-1C25-7E96-596B7A37A0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F1AE599-B57B-2BC8-D7BC-4B433031C4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F4108E-7386-FB90-77A9-FB67E0D1715C}"/>
              </a:ext>
            </a:extLst>
          </p:cNvPr>
          <p:cNvSpPr>
            <a:spLocks noGrp="1"/>
          </p:cNvSpPr>
          <p:nvPr>
            <p:ph type="dt" sz="half" idx="10"/>
          </p:nvPr>
        </p:nvSpPr>
        <p:spPr/>
        <p:txBody>
          <a:bodyPr/>
          <a:lstStyle/>
          <a:p>
            <a:fld id="{F9A41A13-9098-40ED-B8F4-9BF199447E5B}" type="datetimeFigureOut">
              <a:rPr lang="en-US" smtClean="0"/>
              <a:t>7/11/2025</a:t>
            </a:fld>
            <a:endParaRPr lang="en-US"/>
          </a:p>
        </p:txBody>
      </p:sp>
      <p:sp>
        <p:nvSpPr>
          <p:cNvPr id="5" name="Footer Placeholder 4">
            <a:extLst>
              <a:ext uri="{FF2B5EF4-FFF2-40B4-BE49-F238E27FC236}">
                <a16:creationId xmlns:a16="http://schemas.microsoft.com/office/drawing/2014/main" id="{528B303D-ABC3-6841-C35A-7605362E25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1D8EDA-8852-6944-1130-3DFCF2029D07}"/>
              </a:ext>
            </a:extLst>
          </p:cNvPr>
          <p:cNvSpPr>
            <a:spLocks noGrp="1"/>
          </p:cNvSpPr>
          <p:nvPr>
            <p:ph type="sldNum" sz="quarter" idx="12"/>
          </p:nvPr>
        </p:nvSpPr>
        <p:spPr/>
        <p:txBody>
          <a:bodyPr/>
          <a:lstStyle/>
          <a:p>
            <a:fld id="{C98EC7F2-AA75-42D1-BD30-712F1BE961A8}" type="slidenum">
              <a:rPr lang="en-US" smtClean="0"/>
              <a:t>‹#›</a:t>
            </a:fld>
            <a:endParaRPr lang="en-US"/>
          </a:p>
        </p:txBody>
      </p:sp>
    </p:spTree>
    <p:extLst>
      <p:ext uri="{BB962C8B-B14F-4D97-AF65-F5344CB8AC3E}">
        <p14:creationId xmlns:p14="http://schemas.microsoft.com/office/powerpoint/2010/main" val="3184984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4710-CDCD-3807-04C3-0C45DBADBD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FB044B-A2E7-0434-7B20-99679E850C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D18184-6E39-F7FE-E209-D44AD8D7CF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2AF6CB8-D0E0-B8EA-F55C-7A604CC0322A}"/>
              </a:ext>
            </a:extLst>
          </p:cNvPr>
          <p:cNvSpPr>
            <a:spLocks noGrp="1"/>
          </p:cNvSpPr>
          <p:nvPr>
            <p:ph type="dt" sz="half" idx="10"/>
          </p:nvPr>
        </p:nvSpPr>
        <p:spPr/>
        <p:txBody>
          <a:bodyPr/>
          <a:lstStyle/>
          <a:p>
            <a:fld id="{F9A41A13-9098-40ED-B8F4-9BF199447E5B}" type="datetimeFigureOut">
              <a:rPr lang="en-US" smtClean="0"/>
              <a:t>7/11/2025</a:t>
            </a:fld>
            <a:endParaRPr lang="en-US"/>
          </a:p>
        </p:txBody>
      </p:sp>
      <p:sp>
        <p:nvSpPr>
          <p:cNvPr id="6" name="Footer Placeholder 5">
            <a:extLst>
              <a:ext uri="{FF2B5EF4-FFF2-40B4-BE49-F238E27FC236}">
                <a16:creationId xmlns:a16="http://schemas.microsoft.com/office/drawing/2014/main" id="{A49F57BD-D600-2BCD-F408-19EAAB3D07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6F3B16-8663-2723-884A-C724410E5C44}"/>
              </a:ext>
            </a:extLst>
          </p:cNvPr>
          <p:cNvSpPr>
            <a:spLocks noGrp="1"/>
          </p:cNvSpPr>
          <p:nvPr>
            <p:ph type="sldNum" sz="quarter" idx="12"/>
          </p:nvPr>
        </p:nvSpPr>
        <p:spPr/>
        <p:txBody>
          <a:bodyPr/>
          <a:lstStyle/>
          <a:p>
            <a:fld id="{C98EC7F2-AA75-42D1-BD30-712F1BE961A8}" type="slidenum">
              <a:rPr lang="en-US" smtClean="0"/>
              <a:t>‹#›</a:t>
            </a:fld>
            <a:endParaRPr lang="en-US"/>
          </a:p>
        </p:txBody>
      </p:sp>
    </p:spTree>
    <p:extLst>
      <p:ext uri="{BB962C8B-B14F-4D97-AF65-F5344CB8AC3E}">
        <p14:creationId xmlns:p14="http://schemas.microsoft.com/office/powerpoint/2010/main" val="1579946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0223F-426B-14C8-98C2-299002E966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586B7A-A6F5-6D62-1127-ABD3564A81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9328B8-6EE2-45F2-DC09-F5789E416F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6940FA-603F-8542-0A69-AB6A12E91D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0F8AE7-24F8-3CFE-038B-BFF2DD5C41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ACFAA96-1319-24D9-4687-5C3EB350BD82}"/>
              </a:ext>
            </a:extLst>
          </p:cNvPr>
          <p:cNvSpPr>
            <a:spLocks noGrp="1"/>
          </p:cNvSpPr>
          <p:nvPr>
            <p:ph type="dt" sz="half" idx="10"/>
          </p:nvPr>
        </p:nvSpPr>
        <p:spPr/>
        <p:txBody>
          <a:bodyPr/>
          <a:lstStyle/>
          <a:p>
            <a:fld id="{F9A41A13-9098-40ED-B8F4-9BF199447E5B}" type="datetimeFigureOut">
              <a:rPr lang="en-US" smtClean="0"/>
              <a:t>7/11/2025</a:t>
            </a:fld>
            <a:endParaRPr lang="en-US"/>
          </a:p>
        </p:txBody>
      </p:sp>
      <p:sp>
        <p:nvSpPr>
          <p:cNvPr id="8" name="Footer Placeholder 7">
            <a:extLst>
              <a:ext uri="{FF2B5EF4-FFF2-40B4-BE49-F238E27FC236}">
                <a16:creationId xmlns:a16="http://schemas.microsoft.com/office/drawing/2014/main" id="{A6FF3087-7483-0941-4C17-B2DDC88336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DCC1D8-FB96-4D57-B5CF-BBFCEDA43D23}"/>
              </a:ext>
            </a:extLst>
          </p:cNvPr>
          <p:cNvSpPr>
            <a:spLocks noGrp="1"/>
          </p:cNvSpPr>
          <p:nvPr>
            <p:ph type="sldNum" sz="quarter" idx="12"/>
          </p:nvPr>
        </p:nvSpPr>
        <p:spPr/>
        <p:txBody>
          <a:bodyPr/>
          <a:lstStyle/>
          <a:p>
            <a:fld id="{C98EC7F2-AA75-42D1-BD30-712F1BE961A8}" type="slidenum">
              <a:rPr lang="en-US" smtClean="0"/>
              <a:t>‹#›</a:t>
            </a:fld>
            <a:endParaRPr lang="en-US"/>
          </a:p>
        </p:txBody>
      </p:sp>
    </p:spTree>
    <p:extLst>
      <p:ext uri="{BB962C8B-B14F-4D97-AF65-F5344CB8AC3E}">
        <p14:creationId xmlns:p14="http://schemas.microsoft.com/office/powerpoint/2010/main" val="526274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E154D-E0BE-57A6-9CA9-F528B738041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A6D704B-FCBD-F0E4-6937-A407D1610047}"/>
              </a:ext>
            </a:extLst>
          </p:cNvPr>
          <p:cNvSpPr>
            <a:spLocks noGrp="1"/>
          </p:cNvSpPr>
          <p:nvPr>
            <p:ph type="dt" sz="half" idx="10"/>
          </p:nvPr>
        </p:nvSpPr>
        <p:spPr/>
        <p:txBody>
          <a:bodyPr/>
          <a:lstStyle/>
          <a:p>
            <a:fld id="{F9A41A13-9098-40ED-B8F4-9BF199447E5B}" type="datetimeFigureOut">
              <a:rPr lang="en-US" smtClean="0"/>
              <a:t>7/11/2025</a:t>
            </a:fld>
            <a:endParaRPr lang="en-US"/>
          </a:p>
        </p:txBody>
      </p:sp>
      <p:sp>
        <p:nvSpPr>
          <p:cNvPr id="4" name="Footer Placeholder 3">
            <a:extLst>
              <a:ext uri="{FF2B5EF4-FFF2-40B4-BE49-F238E27FC236}">
                <a16:creationId xmlns:a16="http://schemas.microsoft.com/office/drawing/2014/main" id="{BE14ED98-7AF1-CFC7-2623-A83629F62A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275F5E-27E1-6F8B-6F63-B238FD8CFBF4}"/>
              </a:ext>
            </a:extLst>
          </p:cNvPr>
          <p:cNvSpPr>
            <a:spLocks noGrp="1"/>
          </p:cNvSpPr>
          <p:nvPr>
            <p:ph type="sldNum" sz="quarter" idx="12"/>
          </p:nvPr>
        </p:nvSpPr>
        <p:spPr/>
        <p:txBody>
          <a:bodyPr/>
          <a:lstStyle/>
          <a:p>
            <a:fld id="{C98EC7F2-AA75-42D1-BD30-712F1BE961A8}" type="slidenum">
              <a:rPr lang="en-US" smtClean="0"/>
              <a:t>‹#›</a:t>
            </a:fld>
            <a:endParaRPr lang="en-US"/>
          </a:p>
        </p:txBody>
      </p:sp>
    </p:spTree>
    <p:extLst>
      <p:ext uri="{BB962C8B-B14F-4D97-AF65-F5344CB8AC3E}">
        <p14:creationId xmlns:p14="http://schemas.microsoft.com/office/powerpoint/2010/main" val="2916692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B554FA-D53A-C254-D52D-35AAE620BD49}"/>
              </a:ext>
            </a:extLst>
          </p:cNvPr>
          <p:cNvSpPr>
            <a:spLocks noGrp="1"/>
          </p:cNvSpPr>
          <p:nvPr>
            <p:ph type="dt" sz="half" idx="10"/>
          </p:nvPr>
        </p:nvSpPr>
        <p:spPr/>
        <p:txBody>
          <a:bodyPr/>
          <a:lstStyle/>
          <a:p>
            <a:fld id="{F9A41A13-9098-40ED-B8F4-9BF199447E5B}" type="datetimeFigureOut">
              <a:rPr lang="en-US" smtClean="0"/>
              <a:t>7/11/2025</a:t>
            </a:fld>
            <a:endParaRPr lang="en-US"/>
          </a:p>
        </p:txBody>
      </p:sp>
      <p:sp>
        <p:nvSpPr>
          <p:cNvPr id="3" name="Footer Placeholder 2">
            <a:extLst>
              <a:ext uri="{FF2B5EF4-FFF2-40B4-BE49-F238E27FC236}">
                <a16:creationId xmlns:a16="http://schemas.microsoft.com/office/drawing/2014/main" id="{521D3848-7BA0-C9A0-9ED1-41F427476C4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603E60-9EF3-9790-8306-9FBCA105D7C3}"/>
              </a:ext>
            </a:extLst>
          </p:cNvPr>
          <p:cNvSpPr>
            <a:spLocks noGrp="1"/>
          </p:cNvSpPr>
          <p:nvPr>
            <p:ph type="sldNum" sz="quarter" idx="12"/>
          </p:nvPr>
        </p:nvSpPr>
        <p:spPr/>
        <p:txBody>
          <a:bodyPr/>
          <a:lstStyle/>
          <a:p>
            <a:fld id="{C98EC7F2-AA75-42D1-BD30-712F1BE961A8}" type="slidenum">
              <a:rPr lang="en-US" smtClean="0"/>
              <a:t>‹#›</a:t>
            </a:fld>
            <a:endParaRPr lang="en-US"/>
          </a:p>
        </p:txBody>
      </p:sp>
    </p:spTree>
    <p:extLst>
      <p:ext uri="{BB962C8B-B14F-4D97-AF65-F5344CB8AC3E}">
        <p14:creationId xmlns:p14="http://schemas.microsoft.com/office/powerpoint/2010/main" val="3447251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3C194-C3E2-077D-536F-15A5BFF450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C096A4-3409-5171-EC9A-940054D984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C17DAC6-5575-AD18-9CD1-AD4C9DB31F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C49B0D-7F20-80B4-BD25-95429862A7BA}"/>
              </a:ext>
            </a:extLst>
          </p:cNvPr>
          <p:cNvSpPr>
            <a:spLocks noGrp="1"/>
          </p:cNvSpPr>
          <p:nvPr>
            <p:ph type="dt" sz="half" idx="10"/>
          </p:nvPr>
        </p:nvSpPr>
        <p:spPr/>
        <p:txBody>
          <a:bodyPr/>
          <a:lstStyle/>
          <a:p>
            <a:fld id="{F9A41A13-9098-40ED-B8F4-9BF199447E5B}" type="datetimeFigureOut">
              <a:rPr lang="en-US" smtClean="0"/>
              <a:t>7/11/2025</a:t>
            </a:fld>
            <a:endParaRPr lang="en-US"/>
          </a:p>
        </p:txBody>
      </p:sp>
      <p:sp>
        <p:nvSpPr>
          <p:cNvPr id="6" name="Footer Placeholder 5">
            <a:extLst>
              <a:ext uri="{FF2B5EF4-FFF2-40B4-BE49-F238E27FC236}">
                <a16:creationId xmlns:a16="http://schemas.microsoft.com/office/drawing/2014/main" id="{E496F937-79C6-AF2B-D0A4-AD961DFE10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7705DB-5243-D0B8-1455-0468684AFA33}"/>
              </a:ext>
            </a:extLst>
          </p:cNvPr>
          <p:cNvSpPr>
            <a:spLocks noGrp="1"/>
          </p:cNvSpPr>
          <p:nvPr>
            <p:ph type="sldNum" sz="quarter" idx="12"/>
          </p:nvPr>
        </p:nvSpPr>
        <p:spPr/>
        <p:txBody>
          <a:bodyPr/>
          <a:lstStyle/>
          <a:p>
            <a:fld id="{C98EC7F2-AA75-42D1-BD30-712F1BE961A8}" type="slidenum">
              <a:rPr lang="en-US" smtClean="0"/>
              <a:t>‹#›</a:t>
            </a:fld>
            <a:endParaRPr lang="en-US"/>
          </a:p>
        </p:txBody>
      </p:sp>
    </p:spTree>
    <p:extLst>
      <p:ext uri="{BB962C8B-B14F-4D97-AF65-F5344CB8AC3E}">
        <p14:creationId xmlns:p14="http://schemas.microsoft.com/office/powerpoint/2010/main" val="1455178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F3B64-E764-7B4E-90CD-0A48CA1D75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218828-22AD-155C-28A4-7CACCA1CC3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81E2A7F-F77D-6CDA-0175-1AFF454C76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8D746F-6900-D009-85ED-D84C3D62B4CD}"/>
              </a:ext>
            </a:extLst>
          </p:cNvPr>
          <p:cNvSpPr>
            <a:spLocks noGrp="1"/>
          </p:cNvSpPr>
          <p:nvPr>
            <p:ph type="dt" sz="half" idx="10"/>
          </p:nvPr>
        </p:nvSpPr>
        <p:spPr/>
        <p:txBody>
          <a:bodyPr/>
          <a:lstStyle/>
          <a:p>
            <a:fld id="{F9A41A13-9098-40ED-B8F4-9BF199447E5B}" type="datetimeFigureOut">
              <a:rPr lang="en-US" smtClean="0"/>
              <a:t>7/11/2025</a:t>
            </a:fld>
            <a:endParaRPr lang="en-US"/>
          </a:p>
        </p:txBody>
      </p:sp>
      <p:sp>
        <p:nvSpPr>
          <p:cNvPr id="6" name="Footer Placeholder 5">
            <a:extLst>
              <a:ext uri="{FF2B5EF4-FFF2-40B4-BE49-F238E27FC236}">
                <a16:creationId xmlns:a16="http://schemas.microsoft.com/office/drawing/2014/main" id="{3863DA27-BB1D-9B5C-5F21-C6CDB5957E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EF2616-A203-3C61-1C84-E88F996D65BB}"/>
              </a:ext>
            </a:extLst>
          </p:cNvPr>
          <p:cNvSpPr>
            <a:spLocks noGrp="1"/>
          </p:cNvSpPr>
          <p:nvPr>
            <p:ph type="sldNum" sz="quarter" idx="12"/>
          </p:nvPr>
        </p:nvSpPr>
        <p:spPr/>
        <p:txBody>
          <a:bodyPr/>
          <a:lstStyle/>
          <a:p>
            <a:fld id="{C98EC7F2-AA75-42D1-BD30-712F1BE961A8}" type="slidenum">
              <a:rPr lang="en-US" smtClean="0"/>
              <a:t>‹#›</a:t>
            </a:fld>
            <a:endParaRPr lang="en-US"/>
          </a:p>
        </p:txBody>
      </p:sp>
    </p:spTree>
    <p:extLst>
      <p:ext uri="{BB962C8B-B14F-4D97-AF65-F5344CB8AC3E}">
        <p14:creationId xmlns:p14="http://schemas.microsoft.com/office/powerpoint/2010/main" val="3454250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8FFC2-C03F-3903-2A70-19A1DF3752F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00652F-52CA-B5BC-3066-F354987690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F695EF-C0EF-6F2D-EA9E-345E2B70A3A8}"/>
              </a:ext>
            </a:extLst>
          </p:cNvPr>
          <p:cNvSpPr>
            <a:spLocks noGrp="1"/>
          </p:cNvSpPr>
          <p:nvPr>
            <p:ph type="dt" sz="half" idx="10"/>
          </p:nvPr>
        </p:nvSpPr>
        <p:spPr/>
        <p:txBody>
          <a:bodyPr/>
          <a:lstStyle/>
          <a:p>
            <a:fld id="{F9A41A13-9098-40ED-B8F4-9BF199447E5B}" type="datetimeFigureOut">
              <a:rPr lang="en-US" smtClean="0"/>
              <a:t>7/11/2025</a:t>
            </a:fld>
            <a:endParaRPr lang="en-US"/>
          </a:p>
        </p:txBody>
      </p:sp>
      <p:sp>
        <p:nvSpPr>
          <p:cNvPr id="5" name="Footer Placeholder 4">
            <a:extLst>
              <a:ext uri="{FF2B5EF4-FFF2-40B4-BE49-F238E27FC236}">
                <a16:creationId xmlns:a16="http://schemas.microsoft.com/office/drawing/2014/main" id="{17FA376C-8DE8-98E3-5B3B-1CC21429B9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DFAC91-5888-FD2C-3EC2-C1B85FCE059A}"/>
              </a:ext>
            </a:extLst>
          </p:cNvPr>
          <p:cNvSpPr>
            <a:spLocks noGrp="1"/>
          </p:cNvSpPr>
          <p:nvPr>
            <p:ph type="sldNum" sz="quarter" idx="12"/>
          </p:nvPr>
        </p:nvSpPr>
        <p:spPr/>
        <p:txBody>
          <a:bodyPr/>
          <a:lstStyle/>
          <a:p>
            <a:fld id="{C98EC7F2-AA75-42D1-BD30-712F1BE961A8}" type="slidenum">
              <a:rPr lang="en-US" smtClean="0"/>
              <a:t>‹#›</a:t>
            </a:fld>
            <a:endParaRPr lang="en-US"/>
          </a:p>
        </p:txBody>
      </p:sp>
    </p:spTree>
    <p:extLst>
      <p:ext uri="{BB962C8B-B14F-4D97-AF65-F5344CB8AC3E}">
        <p14:creationId xmlns:p14="http://schemas.microsoft.com/office/powerpoint/2010/main" val="2488197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468E25-B964-A184-6A1F-144EF9F04C3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DE8B73-6313-EF3A-1D86-A983C3E6C9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CD5F0-2885-2063-1D6B-B31CD0AC582E}"/>
              </a:ext>
            </a:extLst>
          </p:cNvPr>
          <p:cNvSpPr>
            <a:spLocks noGrp="1"/>
          </p:cNvSpPr>
          <p:nvPr>
            <p:ph type="dt" sz="half" idx="10"/>
          </p:nvPr>
        </p:nvSpPr>
        <p:spPr/>
        <p:txBody>
          <a:bodyPr/>
          <a:lstStyle/>
          <a:p>
            <a:fld id="{F9A41A13-9098-40ED-B8F4-9BF199447E5B}" type="datetimeFigureOut">
              <a:rPr lang="en-US" smtClean="0"/>
              <a:t>7/11/2025</a:t>
            </a:fld>
            <a:endParaRPr lang="en-US"/>
          </a:p>
        </p:txBody>
      </p:sp>
      <p:sp>
        <p:nvSpPr>
          <p:cNvPr id="5" name="Footer Placeholder 4">
            <a:extLst>
              <a:ext uri="{FF2B5EF4-FFF2-40B4-BE49-F238E27FC236}">
                <a16:creationId xmlns:a16="http://schemas.microsoft.com/office/drawing/2014/main" id="{9E4CF766-55A6-AC99-A821-D5D2AE65E3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F2CB07-4673-2BC4-0496-C92EC36BB5FD}"/>
              </a:ext>
            </a:extLst>
          </p:cNvPr>
          <p:cNvSpPr>
            <a:spLocks noGrp="1"/>
          </p:cNvSpPr>
          <p:nvPr>
            <p:ph type="sldNum" sz="quarter" idx="12"/>
          </p:nvPr>
        </p:nvSpPr>
        <p:spPr/>
        <p:txBody>
          <a:bodyPr/>
          <a:lstStyle/>
          <a:p>
            <a:fld id="{C98EC7F2-AA75-42D1-BD30-712F1BE961A8}" type="slidenum">
              <a:rPr lang="en-US" smtClean="0"/>
              <a:t>‹#›</a:t>
            </a:fld>
            <a:endParaRPr lang="en-US"/>
          </a:p>
        </p:txBody>
      </p:sp>
    </p:spTree>
    <p:extLst>
      <p:ext uri="{BB962C8B-B14F-4D97-AF65-F5344CB8AC3E}">
        <p14:creationId xmlns:p14="http://schemas.microsoft.com/office/powerpoint/2010/main" val="3980075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C4CEDE-7731-F8B8-1B73-E5F3217001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253849-0EA5-3491-8D46-34AF4E7354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EA542B-5CD5-D8AD-A035-03EE79CE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9A41A13-9098-40ED-B8F4-9BF199447E5B}" type="datetimeFigureOut">
              <a:rPr lang="en-US" smtClean="0"/>
              <a:t>7/11/2025</a:t>
            </a:fld>
            <a:endParaRPr lang="en-US"/>
          </a:p>
        </p:txBody>
      </p:sp>
      <p:sp>
        <p:nvSpPr>
          <p:cNvPr id="5" name="Footer Placeholder 4">
            <a:extLst>
              <a:ext uri="{FF2B5EF4-FFF2-40B4-BE49-F238E27FC236}">
                <a16:creationId xmlns:a16="http://schemas.microsoft.com/office/drawing/2014/main" id="{DE01BACE-7625-254B-23CE-5A8DA491F6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168FBAE-1F16-B216-5D08-A82A575AA0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8EC7F2-AA75-42D1-BD30-712F1BE961A8}" type="slidenum">
              <a:rPr lang="en-US" smtClean="0"/>
              <a:t>‹#›</a:t>
            </a:fld>
            <a:endParaRPr lang="en-US"/>
          </a:p>
        </p:txBody>
      </p:sp>
    </p:spTree>
    <p:extLst>
      <p:ext uri="{BB962C8B-B14F-4D97-AF65-F5344CB8AC3E}">
        <p14:creationId xmlns:p14="http://schemas.microsoft.com/office/powerpoint/2010/main" val="8543674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7" name="Rectangle 86">
            <a:extLst>
              <a:ext uri="{FF2B5EF4-FFF2-40B4-BE49-F238E27FC236}">
                <a16:creationId xmlns:a16="http://schemas.microsoft.com/office/drawing/2014/main" id="{A4E37431-20F0-4DD6-84A9-ED2B644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0AE98B72-66C6-4AB4-AF0D-BA830DE86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407EAFC6-733F-403D-BB4D-05A3A2874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17A36730-4CB0-4F61-AD11-A44C9765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Rectangle 94">
            <a:extLst>
              <a:ext uri="{FF2B5EF4-FFF2-40B4-BE49-F238E27FC236}">
                <a16:creationId xmlns:a16="http://schemas.microsoft.com/office/drawing/2014/main" id="{C69C79E1-F916-4929-A4F3-DE763D4BF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767334AB-16BD-4EC7-8C6B-4B5171600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ED38D6D-B1FC-69B4-4566-682190D165FC}"/>
              </a:ext>
            </a:extLst>
          </p:cNvPr>
          <p:cNvSpPr>
            <a:spLocks noGrp="1"/>
          </p:cNvSpPr>
          <p:nvPr>
            <p:ph type="ctrTitle"/>
          </p:nvPr>
        </p:nvSpPr>
        <p:spPr>
          <a:xfrm>
            <a:off x="660042" y="891652"/>
            <a:ext cx="4412021" cy="3030724"/>
          </a:xfrm>
        </p:spPr>
        <p:txBody>
          <a:bodyPr anchor="b">
            <a:normAutofit/>
          </a:bodyPr>
          <a:lstStyle/>
          <a:p>
            <a:pPr algn="r"/>
            <a:r>
              <a:rPr lang="en-US" sz="4000">
                <a:solidFill>
                  <a:srgbClr val="FFFFFF"/>
                </a:solidFill>
              </a:rPr>
              <a:t>Orchestration and scheduling with Apache Airflow</a:t>
            </a:r>
          </a:p>
        </p:txBody>
      </p:sp>
      <p:sp>
        <p:nvSpPr>
          <p:cNvPr id="3" name="Subtitle 2">
            <a:extLst>
              <a:ext uri="{FF2B5EF4-FFF2-40B4-BE49-F238E27FC236}">
                <a16:creationId xmlns:a16="http://schemas.microsoft.com/office/drawing/2014/main" id="{287D9A46-AE3A-8665-704E-19B26DDB107B}"/>
              </a:ext>
            </a:extLst>
          </p:cNvPr>
          <p:cNvSpPr>
            <a:spLocks noGrp="1"/>
          </p:cNvSpPr>
          <p:nvPr>
            <p:ph type="subTitle" idx="1"/>
          </p:nvPr>
        </p:nvSpPr>
        <p:spPr>
          <a:xfrm>
            <a:off x="945791" y="4745317"/>
            <a:ext cx="4126272" cy="1375145"/>
          </a:xfrm>
        </p:spPr>
        <p:txBody>
          <a:bodyPr>
            <a:normAutofit/>
          </a:bodyPr>
          <a:lstStyle/>
          <a:p>
            <a:pPr algn="r"/>
            <a:r>
              <a:rPr lang="en-US">
                <a:solidFill>
                  <a:srgbClr val="FFFFFF"/>
                </a:solidFill>
              </a:rPr>
              <a:t>Presented By		</a:t>
            </a:r>
          </a:p>
          <a:p>
            <a:pPr algn="r"/>
            <a:r>
              <a:rPr lang="en-US">
                <a:solidFill>
                  <a:srgbClr val="FFFFFF"/>
                </a:solidFill>
              </a:rPr>
              <a:t>Shiva Kumar Patil</a:t>
            </a:r>
          </a:p>
          <a:p>
            <a:pPr algn="r"/>
            <a:endParaRPr lang="en-US">
              <a:solidFill>
                <a:srgbClr val="FFFFFF"/>
              </a:solidFill>
            </a:endParaRPr>
          </a:p>
        </p:txBody>
      </p:sp>
      <p:pic>
        <p:nvPicPr>
          <p:cNvPr id="6" name="Picture 5">
            <a:extLst>
              <a:ext uri="{FF2B5EF4-FFF2-40B4-BE49-F238E27FC236}">
                <a16:creationId xmlns:a16="http://schemas.microsoft.com/office/drawing/2014/main" id="{A24CA753-B603-409D-5FA2-F373930CD3D5}"/>
              </a:ext>
            </a:extLst>
          </p:cNvPr>
          <p:cNvPicPr>
            <a:picLocks noChangeAspect="1"/>
          </p:cNvPicPr>
          <p:nvPr/>
        </p:nvPicPr>
        <p:blipFill>
          <a:blip r:embed="rId2"/>
          <a:stretch>
            <a:fillRect/>
          </a:stretch>
        </p:blipFill>
        <p:spPr>
          <a:xfrm>
            <a:off x="6096000" y="2074799"/>
            <a:ext cx="5608320" cy="2663952"/>
          </a:xfrm>
          <a:prstGeom prst="rect">
            <a:avLst/>
          </a:prstGeom>
        </p:spPr>
      </p:pic>
    </p:spTree>
    <p:extLst>
      <p:ext uri="{BB962C8B-B14F-4D97-AF65-F5344CB8AC3E}">
        <p14:creationId xmlns:p14="http://schemas.microsoft.com/office/powerpoint/2010/main" val="2835702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A42D1D-9126-CD32-1506-F6A91423CAA4}"/>
              </a:ext>
            </a:extLst>
          </p:cNvPr>
          <p:cNvSpPr>
            <a:spLocks noGrp="1"/>
          </p:cNvSpPr>
          <p:nvPr>
            <p:ph type="title"/>
          </p:nvPr>
        </p:nvSpPr>
        <p:spPr>
          <a:xfrm>
            <a:off x="466722" y="586855"/>
            <a:ext cx="3201366" cy="3387497"/>
          </a:xfrm>
        </p:spPr>
        <p:txBody>
          <a:bodyPr anchor="b">
            <a:normAutofit/>
          </a:bodyPr>
          <a:lstStyle/>
          <a:p>
            <a:pPr algn="r"/>
            <a:r>
              <a:rPr lang="en-US" sz="4000" dirty="0">
                <a:solidFill>
                  <a:schemeClr val="bg1"/>
                </a:solidFill>
              </a:rPr>
              <a:t>What is Orchestration in </a:t>
            </a:r>
            <a:r>
              <a:rPr lang="en-US" sz="4000" dirty="0" err="1">
                <a:solidFill>
                  <a:schemeClr val="bg1"/>
                </a:solidFill>
              </a:rPr>
              <a:t>BigData</a:t>
            </a:r>
            <a:r>
              <a:rPr lang="en-US" sz="4000" dirty="0">
                <a:solidFill>
                  <a:schemeClr val="bg1"/>
                </a:solidFill>
              </a:rPr>
              <a:t> ?</a:t>
            </a:r>
          </a:p>
        </p:txBody>
      </p:sp>
      <p:sp>
        <p:nvSpPr>
          <p:cNvPr id="3" name="Content Placeholder 2">
            <a:extLst>
              <a:ext uri="{FF2B5EF4-FFF2-40B4-BE49-F238E27FC236}">
                <a16:creationId xmlns:a16="http://schemas.microsoft.com/office/drawing/2014/main" id="{FCFC72F5-DF76-0A44-00B6-F2E710BF6DB5}"/>
              </a:ext>
            </a:extLst>
          </p:cNvPr>
          <p:cNvSpPr>
            <a:spLocks noGrp="1"/>
          </p:cNvSpPr>
          <p:nvPr>
            <p:ph idx="1"/>
          </p:nvPr>
        </p:nvSpPr>
        <p:spPr>
          <a:xfrm>
            <a:off x="4810259" y="649480"/>
            <a:ext cx="6555347" cy="5546047"/>
          </a:xfrm>
        </p:spPr>
        <p:txBody>
          <a:bodyPr anchor="ctr">
            <a:normAutofit/>
          </a:bodyPr>
          <a:lstStyle/>
          <a:p>
            <a:r>
              <a:rPr lang="en-US" sz="2000" b="1" dirty="0"/>
              <a:t>Orchestration</a:t>
            </a:r>
            <a:r>
              <a:rPr lang="en-US" sz="2000" dirty="0"/>
              <a:t> in data engineering (and software in general) refers to the </a:t>
            </a:r>
            <a:r>
              <a:rPr lang="en-US" sz="2000" b="1" dirty="0"/>
              <a:t>automated coordination, scheduling, and management of tasks</a:t>
            </a:r>
            <a:r>
              <a:rPr lang="en-US" sz="2000" dirty="0"/>
              <a:t> across systems to achieve a complete workflow or pipeline.</a:t>
            </a:r>
          </a:p>
        </p:txBody>
      </p:sp>
    </p:spTree>
    <p:extLst>
      <p:ext uri="{BB962C8B-B14F-4D97-AF65-F5344CB8AC3E}">
        <p14:creationId xmlns:p14="http://schemas.microsoft.com/office/powerpoint/2010/main" val="2570257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83447"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B2AC52-7926-C566-B2F4-EC761A124733}"/>
              </a:ext>
            </a:extLst>
          </p:cNvPr>
          <p:cNvSpPr>
            <a:spLocks noGrp="1"/>
          </p:cNvSpPr>
          <p:nvPr>
            <p:ph type="ctrTitle"/>
          </p:nvPr>
        </p:nvSpPr>
        <p:spPr>
          <a:xfrm>
            <a:off x="1155558" y="637762"/>
            <a:ext cx="4284397" cy="5576770"/>
          </a:xfrm>
        </p:spPr>
        <p:txBody>
          <a:bodyPr anchor="ctr">
            <a:normAutofit/>
          </a:bodyPr>
          <a:lstStyle/>
          <a:p>
            <a:pPr algn="l"/>
            <a:r>
              <a:rPr lang="en-US" sz="5600" dirty="0">
                <a:solidFill>
                  <a:schemeClr val="bg1"/>
                </a:solidFill>
              </a:rPr>
              <a:t>Orchestration involves</a:t>
            </a:r>
          </a:p>
        </p:txBody>
      </p:sp>
      <p:sp>
        <p:nvSpPr>
          <p:cNvPr id="17" name="Rectangle 16">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DF9C8409-3D51-B736-9358-5FBA92DDCDBA}"/>
              </a:ext>
            </a:extLst>
          </p:cNvPr>
          <p:cNvSpPr>
            <a:spLocks noGrp="1"/>
          </p:cNvSpPr>
          <p:nvPr>
            <p:ph type="subTitle" idx="1"/>
          </p:nvPr>
        </p:nvSpPr>
        <p:spPr>
          <a:xfrm>
            <a:off x="6739464" y="637762"/>
            <a:ext cx="4305881" cy="5860946"/>
          </a:xfrm>
        </p:spPr>
        <p:txBody>
          <a:bodyPr anchor="ctr">
            <a:normAutofit/>
          </a:bodyPr>
          <a:lstStyle/>
          <a:p>
            <a:pPr algn="l"/>
            <a:r>
              <a:rPr lang="en-US" sz="1900" dirty="0"/>
              <a:t>● </a:t>
            </a:r>
            <a:r>
              <a:rPr lang="en-US" sz="1900" b="1" dirty="0"/>
              <a:t>Workflow managemen</a:t>
            </a:r>
            <a:r>
              <a:rPr lang="en-US" sz="1900" dirty="0"/>
              <a:t>t: It defines, schedules, and manages workflows involving multiple tasks across disparate systems. These workflows can be simple linear sequences or complex directed acyclic graphs (DAGs) with branching and merging paths. </a:t>
            </a:r>
          </a:p>
          <a:p>
            <a:pPr algn="l"/>
            <a:r>
              <a:rPr lang="en-US" sz="1900" dirty="0"/>
              <a:t>● </a:t>
            </a:r>
            <a:r>
              <a:rPr lang="en-US" sz="1900" b="1" dirty="0"/>
              <a:t>Task scheduling</a:t>
            </a:r>
            <a:r>
              <a:rPr lang="en-US" sz="1900" dirty="0"/>
              <a:t>: Orchestration tools schedule tasks based on their dependencies. This ensures that tasks are executed in the correct order and that tasks that can run in parallel do so, increasing overall system efficiency.</a:t>
            </a:r>
          </a:p>
          <a:p>
            <a:pPr algn="l"/>
            <a:r>
              <a:rPr lang="en-US" sz="1900" dirty="0"/>
              <a:t> ● </a:t>
            </a:r>
            <a:r>
              <a:rPr lang="en-US" sz="1900" b="1" dirty="0"/>
              <a:t>Failure handling</a:t>
            </a:r>
            <a:r>
              <a:rPr lang="en-US" sz="1900" dirty="0"/>
              <a:t>: Orchestration tools handle failures in the system, either by retrying failed tasks, skipping them, or alerting operators to the failure</a:t>
            </a:r>
          </a:p>
        </p:txBody>
      </p:sp>
    </p:spTree>
    <p:extLst>
      <p:ext uri="{BB962C8B-B14F-4D97-AF65-F5344CB8AC3E}">
        <p14:creationId xmlns:p14="http://schemas.microsoft.com/office/powerpoint/2010/main" val="3602781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 name="Rectangle 7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9" name="Rectangle 7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Freeform: Shape 8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Rectangle 32">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FA266C-5706-7FDD-3A6C-4130E75E2BED}"/>
              </a:ext>
            </a:extLst>
          </p:cNvPr>
          <p:cNvSpPr>
            <a:spLocks noGrp="1"/>
          </p:cNvSpPr>
          <p:nvPr>
            <p:ph type="title"/>
          </p:nvPr>
        </p:nvSpPr>
        <p:spPr>
          <a:xfrm>
            <a:off x="466722" y="586855"/>
            <a:ext cx="3201366" cy="3387497"/>
          </a:xfrm>
        </p:spPr>
        <p:txBody>
          <a:bodyPr anchor="b">
            <a:normAutofit/>
          </a:bodyPr>
          <a:lstStyle/>
          <a:p>
            <a:pPr algn="r"/>
            <a:r>
              <a:rPr lang="en-US" sz="2500">
                <a:solidFill>
                  <a:srgbClr val="FFFFFF"/>
                </a:solidFill>
              </a:rPr>
              <a:t>Need of Workflow/Dependency management while Designing Data Pipelines? </a:t>
            </a:r>
          </a:p>
        </p:txBody>
      </p:sp>
      <p:sp>
        <p:nvSpPr>
          <p:cNvPr id="84" name="Content Placeholder 2">
            <a:extLst>
              <a:ext uri="{FF2B5EF4-FFF2-40B4-BE49-F238E27FC236}">
                <a16:creationId xmlns:a16="http://schemas.microsoft.com/office/drawing/2014/main" id="{F5F09348-877C-AFFE-AFBA-DBB513A0BC1D}"/>
              </a:ext>
            </a:extLst>
          </p:cNvPr>
          <p:cNvSpPr>
            <a:spLocks noGrp="1"/>
          </p:cNvSpPr>
          <p:nvPr>
            <p:ph idx="1"/>
          </p:nvPr>
        </p:nvSpPr>
        <p:spPr>
          <a:xfrm>
            <a:off x="4810259" y="649480"/>
            <a:ext cx="6555347" cy="5546047"/>
          </a:xfrm>
        </p:spPr>
        <p:txBody>
          <a:bodyPr anchor="ctr">
            <a:normAutofit/>
          </a:bodyPr>
          <a:lstStyle/>
          <a:p>
            <a:r>
              <a:rPr lang="en-US" sz="1400" dirty="0"/>
              <a:t>Workflow or dependency management is a crucial component in the design of data pipelines, especially in the context of big data. Here's why:</a:t>
            </a:r>
          </a:p>
          <a:p>
            <a:r>
              <a:rPr lang="en-US" sz="1400" dirty="0"/>
              <a:t> ● </a:t>
            </a:r>
            <a:r>
              <a:rPr lang="en-US" sz="1400" b="1" dirty="0"/>
              <a:t>Ordering and Scheduling</a:t>
            </a:r>
            <a:r>
              <a:rPr lang="en-US" sz="1400" dirty="0"/>
              <a:t>: Data processing tasks often have dependencies, meaning one task needs to complete before another can begin. For example, a task that aggregates data may need to wait until the data has been extracted and cleaned. A workflow management system can keep track of these dependencies and ensure tasks are executed in the right order. </a:t>
            </a:r>
          </a:p>
          <a:p>
            <a:r>
              <a:rPr lang="en-US" sz="1400" dirty="0"/>
              <a:t>● </a:t>
            </a:r>
            <a:r>
              <a:rPr lang="en-US" sz="1400" b="1" dirty="0"/>
              <a:t>Parallelization</a:t>
            </a:r>
            <a:r>
              <a:rPr lang="en-US" sz="1400" dirty="0"/>
              <a:t>: When tasks don't have dependencies, they can often run in parallel. This can significantly speed up data processing. Workflow management systems can manage parallel execution, maximize the use of computational resources and reducing overall processing time.</a:t>
            </a:r>
          </a:p>
          <a:p>
            <a:r>
              <a:rPr lang="en-US" sz="1400" dirty="0"/>
              <a:t> ● </a:t>
            </a:r>
            <a:r>
              <a:rPr lang="en-US" sz="1400" b="1" dirty="0"/>
              <a:t>Error Handling</a:t>
            </a:r>
            <a:r>
              <a:rPr lang="en-US" sz="1400" dirty="0"/>
              <a:t>: If a task in a data pipeline fails, it can have a knock-on effect on other tasks. Workflow management systems can handle these situations, for instance by retrying failed tasks, skipping them, or stopping the pipeline and alerting operators. </a:t>
            </a:r>
          </a:p>
          <a:p>
            <a:r>
              <a:rPr lang="en-US" sz="1400" dirty="0"/>
              <a:t>●</a:t>
            </a:r>
            <a:r>
              <a:rPr lang="en-US" sz="1400" b="1" dirty="0"/>
              <a:t> Visibility and Monitoring</a:t>
            </a:r>
            <a:r>
              <a:rPr lang="en-US" sz="1400" dirty="0"/>
              <a:t>: Workflow management systems often provide tools for monitoring the progress of data pipelines and visualizing their structure. This can make it easier to spot bottlenecks or failures, and to understand the flow of data through the pipeline. </a:t>
            </a:r>
          </a:p>
          <a:p>
            <a:r>
              <a:rPr lang="en-US" sz="1400" dirty="0"/>
              <a:t>● </a:t>
            </a:r>
            <a:r>
              <a:rPr lang="en-US" sz="1400" b="1" dirty="0"/>
              <a:t>Resource Management</a:t>
            </a:r>
            <a:r>
              <a:rPr lang="en-US" sz="1400" dirty="0"/>
              <a:t>: Workflow management systems can allocate resources (like memory, CPU, etc.) depending on the requirements of different tasks. This helps in efficiently utilizing resources and ensures optimal performance of tasks</a:t>
            </a:r>
          </a:p>
        </p:txBody>
      </p:sp>
    </p:spTree>
    <p:extLst>
      <p:ext uri="{BB962C8B-B14F-4D97-AF65-F5344CB8AC3E}">
        <p14:creationId xmlns:p14="http://schemas.microsoft.com/office/powerpoint/2010/main" val="3372573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01C687-EE07-6424-3B1C-539815272770}"/>
              </a:ext>
            </a:extLst>
          </p:cNvPr>
          <p:cNvSpPr>
            <a:spLocks noGrp="1"/>
          </p:cNvSpPr>
          <p:nvPr>
            <p:ph type="title"/>
          </p:nvPr>
        </p:nvSpPr>
        <p:spPr>
          <a:xfrm>
            <a:off x="826396" y="586855"/>
            <a:ext cx="4230100" cy="3387497"/>
          </a:xfrm>
        </p:spPr>
        <p:txBody>
          <a:bodyPr anchor="b">
            <a:normAutofit/>
          </a:bodyPr>
          <a:lstStyle/>
          <a:p>
            <a:pPr algn="r"/>
            <a:r>
              <a:rPr lang="en-US" sz="4000" dirty="0">
                <a:solidFill>
                  <a:srgbClr val="FFFFFF"/>
                </a:solidFill>
              </a:rPr>
              <a:t>What is </a:t>
            </a:r>
            <a:r>
              <a:rPr lang="en-US" sz="4000" dirty="0" err="1">
                <a:solidFill>
                  <a:srgbClr val="FFFFFF"/>
                </a:solidFill>
              </a:rPr>
              <a:t>Apche</a:t>
            </a:r>
            <a:r>
              <a:rPr lang="en-US" sz="4000" dirty="0">
                <a:solidFill>
                  <a:srgbClr val="FFFFFF"/>
                </a:solidFill>
              </a:rPr>
              <a:t> airflow</a:t>
            </a:r>
          </a:p>
        </p:txBody>
      </p:sp>
      <p:sp>
        <p:nvSpPr>
          <p:cNvPr id="3" name="Content Placeholder 2">
            <a:extLst>
              <a:ext uri="{FF2B5EF4-FFF2-40B4-BE49-F238E27FC236}">
                <a16:creationId xmlns:a16="http://schemas.microsoft.com/office/drawing/2014/main" id="{646BD78A-C33F-E585-3A10-66F9B8572FA9}"/>
              </a:ext>
            </a:extLst>
          </p:cNvPr>
          <p:cNvSpPr>
            <a:spLocks noGrp="1"/>
          </p:cNvSpPr>
          <p:nvPr>
            <p:ph idx="1"/>
          </p:nvPr>
        </p:nvSpPr>
        <p:spPr>
          <a:xfrm>
            <a:off x="6503158" y="649480"/>
            <a:ext cx="4862447" cy="5546047"/>
          </a:xfrm>
        </p:spPr>
        <p:txBody>
          <a:bodyPr anchor="ctr">
            <a:normAutofit/>
          </a:bodyPr>
          <a:lstStyle/>
          <a:p>
            <a:endParaRPr lang="en-US" sz="2000"/>
          </a:p>
        </p:txBody>
      </p:sp>
    </p:spTree>
    <p:extLst>
      <p:ext uri="{BB962C8B-B14F-4D97-AF65-F5344CB8AC3E}">
        <p14:creationId xmlns:p14="http://schemas.microsoft.com/office/powerpoint/2010/main" val="2313344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C3322-6B5F-0DA3-6F0B-D3488A87A38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4D41B5C-9CC3-AF66-BA15-ED4968A4CE0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42452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324</TotalTime>
  <Words>443</Words>
  <Application>Microsoft Office PowerPoint</Application>
  <PresentationFormat>Widescreen</PresentationFormat>
  <Paragraphs>17</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Orchestration and scheduling with Apache Airflow</vt:lpstr>
      <vt:lpstr>What is Orchestration in BigData ?</vt:lpstr>
      <vt:lpstr>Orchestration involves</vt:lpstr>
      <vt:lpstr>Need of Workflow/Dependency management while Designing Data Pipelines? </vt:lpstr>
      <vt:lpstr>What is Apche airflow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Patil, Shiva Kumar</dc:creator>
  <cp:lastModifiedBy>Patil, Shiva Kumar</cp:lastModifiedBy>
  <cp:revision>2</cp:revision>
  <dcterms:created xsi:type="dcterms:W3CDTF">2025-07-11T05:31:55Z</dcterms:created>
  <dcterms:modified xsi:type="dcterms:W3CDTF">2025-07-11T10:56:52Z</dcterms:modified>
</cp:coreProperties>
</file>